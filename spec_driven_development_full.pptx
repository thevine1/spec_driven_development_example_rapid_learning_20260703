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EFCF8"/>
        </a:solidFill>
      </p:bgPr>
    </p:bg>
    <p:spTree>
      <p:nvGrpSpPr>
        <p:cNvPr id="1" name=""/>
        <p:cNvGrpSpPr/>
        <p:nvPr/>
      </p:nvGrpSpPr>
      <p:grpSpPr>
        <a:xfrm>
          <a:off x="0" y="0"/>
          <a:ext cx="0" cy="0"/>
          <a:chOff x="0" y="0"/>
          <a:chExt cx="0" cy="0"/>
        </a:xfrm>
      </p:grpSpPr>
      <p:sp>
        <p:nvSpPr>
          <p:cNvPr id="2" name="Text 0"/>
          <p:cNvSpPr/>
          <p:nvPr/>
        </p:nvSpPr>
        <p:spPr>
          <a:xfrm>
            <a:off x="15055981" y="-962612"/>
            <a:ext cx="4007059" cy="4007059"/>
          </a:xfrm>
          <a:prstGeom prst="roundRect">
            <a:avLst>
              <a:gd name="adj" fmla="val 114099"/>
            </a:avLst>
          </a:prstGeom>
          <a:solidFill>
            <a:srgbClr val="C2410C">
              <a:alpha val="14000"/>
            </a:srgbClr>
          </a:solidFill>
          <a:ln/>
        </p:spPr>
        <p:txBody>
          <a:bodyPr wrap="none" lIns="0" tIns="0" rIns="0" bIns="0" rtlCol="0" anchor="ctr">
            <a:normAutofit/>
          </a:bodyPr>
          <a:lstStyle/>
          <a:p>
            <a:pPr indent="0" marL="0">
              <a:buNone/>
            </a:pPr>
            <a:endParaRPr lang="en-US" dirty="0"/>
          </a:p>
        </p:txBody>
      </p:sp>
      <p:sp>
        <p:nvSpPr>
          <p:cNvPr id="3" name="Text 1"/>
          <p:cNvSpPr/>
          <p:nvPr/>
        </p:nvSpPr>
        <p:spPr>
          <a:xfrm>
            <a:off x="-575683" y="8091758"/>
            <a:ext cx="3051414" cy="3051414"/>
          </a:xfrm>
          <a:prstGeom prst="roundRect">
            <a:avLst>
              <a:gd name="adj" fmla="val 149832"/>
            </a:avLst>
          </a:prstGeom>
          <a:solidFill>
            <a:srgbClr val="65713A">
              <a:alpha val="13000"/>
            </a:srgbClr>
          </a:solidFill>
          <a:ln/>
        </p:spPr>
        <p:txBody>
          <a:bodyPr wrap="none" lIns="0" tIns="0" rIns="0" bIns="0" rtlCol="0" anchor="ctr">
            <a:normAutofit/>
          </a:bodyPr>
          <a:lstStyle/>
          <a:p>
            <a:pPr indent="0" marL="0">
              <a:buNone/>
            </a:pPr>
            <a:endParaRPr lang="en-US" dirty="0"/>
          </a:p>
        </p:txBody>
      </p:sp>
      <p:sp>
        <p:nvSpPr>
          <p:cNvPr id="4" name="Text 2"/>
          <p:cNvSpPr/>
          <p:nvPr/>
        </p:nvSpPr>
        <p:spPr>
          <a:xfrm>
            <a:off x="2928391" y="2881417"/>
            <a:ext cx="2096630" cy="2096630"/>
          </a:xfrm>
          <a:prstGeom prst="roundRect">
            <a:avLst>
              <a:gd name="adj" fmla="val 218064"/>
            </a:avLst>
          </a:prstGeom>
          <a:solidFill>
            <a:srgbClr val="1E293B">
              <a:alpha val="10000"/>
            </a:srgbClr>
          </a:solidFill>
          <a:ln/>
        </p:spPr>
        <p:txBody>
          <a:bodyPr wrap="none" lIns="0" tIns="0" rIns="0" bIns="0" rtlCol="0" anchor="ctr">
            <a:normAutofit/>
          </a:bodyPr>
          <a:lstStyle/>
          <a:p>
            <a:pPr indent="0" marL="0">
              <a:buNone/>
            </a:pPr>
            <a:endParaRPr lang="en-US" dirty="0"/>
          </a:p>
        </p:txBody>
      </p:sp>
      <p:sp>
        <p:nvSpPr>
          <p:cNvPr id="5" name="Text 3"/>
          <p:cNvSpPr/>
          <p:nvPr/>
        </p:nvSpPr>
        <p:spPr>
          <a:xfrm>
            <a:off x="3981450" y="6167140"/>
            <a:ext cx="3314700" cy="751880"/>
          </a:xfrm>
          <a:prstGeom prst="roundRect">
            <a:avLst>
              <a:gd name="adj" fmla="val 267553"/>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6" name="Text 4"/>
          <p:cNvSpPr/>
          <p:nvPr/>
        </p:nvSpPr>
        <p:spPr>
          <a:xfrm>
            <a:off x="3990975" y="6176665"/>
            <a:ext cx="438299" cy="218480"/>
          </a:xfrm>
          <a:prstGeom prst="roundRect">
            <a:avLst>
              <a:gd name="adj" fmla="val 41810948"/>
            </a:avLst>
          </a:prstGeom>
          <a:solidFill>
            <a:srgbClr val="C2410C">
              <a:alpha val="10000"/>
            </a:srgbClr>
          </a:solidFill>
          <a:ln/>
        </p:spPr>
        <p:txBody>
          <a:bodyPr wrap="square" lIns="109728" tIns="109728" rIns="109728" bIns="109728" rtlCol="0" anchor="t">
            <a:normAutofit/>
          </a:bodyPr>
          <a:lstStyle/>
          <a:p>
            <a:pPr algn="l" indent="0" marL="0">
              <a:buNone/>
            </a:pPr>
            <a:r>
              <a:rPr lang="en-US" sz="912" b="1" dirty="0">
                <a:solidFill>
                  <a:srgbClr val="1E293B"/>
                </a:solidFill>
                <a:latin typeface="Times" pitchFamily="34" charset="0"/>
                <a:ea typeface="Times" pitchFamily="34" charset="-122"/>
                <a:cs typeface="Times" pitchFamily="34" charset="-120"/>
              </a:rPr>
              <a:t>Idea</a:t>
            </a:r>
            <a:endParaRPr lang="en-US" sz="912" dirty="0"/>
          </a:p>
        </p:txBody>
      </p:sp>
      <p:sp>
        <p:nvSpPr>
          <p:cNvPr id="7" name="Text 5"/>
          <p:cNvSpPr/>
          <p:nvPr/>
        </p:nvSpPr>
        <p:spPr>
          <a:xfrm>
            <a:off x="7486650" y="6167140"/>
            <a:ext cx="3314700" cy="751880"/>
          </a:xfrm>
          <a:prstGeom prst="roundRect">
            <a:avLst>
              <a:gd name="adj" fmla="val 267553"/>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8" name="Text 6"/>
          <p:cNvSpPr/>
          <p:nvPr/>
        </p:nvSpPr>
        <p:spPr>
          <a:xfrm>
            <a:off x="7496175" y="6176665"/>
            <a:ext cx="579834" cy="218480"/>
          </a:xfrm>
          <a:prstGeom prst="roundRect">
            <a:avLst>
              <a:gd name="adj" fmla="val 41810948"/>
            </a:avLst>
          </a:prstGeom>
          <a:solidFill>
            <a:srgbClr val="C2410C">
              <a:alpha val="10000"/>
            </a:srgbClr>
          </a:solidFill>
          <a:ln/>
        </p:spPr>
        <p:txBody>
          <a:bodyPr wrap="square" lIns="109728" tIns="109728" rIns="109728" bIns="109728" rtlCol="0" anchor="t">
            <a:normAutofit/>
          </a:bodyPr>
          <a:lstStyle/>
          <a:p>
            <a:pPr algn="l" indent="0" marL="0">
              <a:buNone/>
            </a:pPr>
            <a:r>
              <a:rPr lang="en-US" sz="912" b="1" dirty="0">
                <a:solidFill>
                  <a:srgbClr val="1E293B"/>
                </a:solidFill>
                <a:latin typeface="Times" pitchFamily="34" charset="0"/>
                <a:ea typeface="Times" pitchFamily="34" charset="-122"/>
                <a:cs typeface="Times" pitchFamily="34" charset="-120"/>
              </a:rPr>
              <a:t>Reason</a:t>
            </a:r>
            <a:endParaRPr lang="en-US" sz="912" dirty="0"/>
          </a:p>
        </p:txBody>
      </p:sp>
      <p:sp>
        <p:nvSpPr>
          <p:cNvPr id="9" name="Text 7"/>
          <p:cNvSpPr/>
          <p:nvPr/>
        </p:nvSpPr>
        <p:spPr>
          <a:xfrm>
            <a:off x="10991850" y="6167140"/>
            <a:ext cx="3314700" cy="751880"/>
          </a:xfrm>
          <a:prstGeom prst="roundRect">
            <a:avLst>
              <a:gd name="adj" fmla="val 267553"/>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10" name="Text 8"/>
          <p:cNvSpPr/>
          <p:nvPr/>
        </p:nvSpPr>
        <p:spPr>
          <a:xfrm>
            <a:off x="11001375" y="6176665"/>
            <a:ext cx="624483" cy="218480"/>
          </a:xfrm>
          <a:prstGeom prst="roundRect">
            <a:avLst>
              <a:gd name="adj" fmla="val 41810948"/>
            </a:avLst>
          </a:prstGeom>
          <a:solidFill>
            <a:srgbClr val="C2410C">
              <a:alpha val="10000"/>
            </a:srgbClr>
          </a:solidFill>
          <a:ln/>
        </p:spPr>
        <p:txBody>
          <a:bodyPr wrap="square" lIns="109728" tIns="109728" rIns="109728" bIns="109728" rtlCol="0" anchor="t">
            <a:normAutofit/>
          </a:bodyPr>
          <a:lstStyle/>
          <a:p>
            <a:pPr algn="l" indent="0" marL="0">
              <a:buNone/>
            </a:pPr>
            <a:r>
              <a:rPr lang="en-US" sz="912" b="1" dirty="0">
                <a:solidFill>
                  <a:srgbClr val="1E293B"/>
                </a:solidFill>
                <a:latin typeface="Times" pitchFamily="34" charset="0"/>
                <a:ea typeface="Times" pitchFamily="34" charset="-122"/>
                <a:cs typeface="Times" pitchFamily="34" charset="-120"/>
              </a:rPr>
              <a:t>Practice</a:t>
            </a:r>
            <a:endParaRPr lang="en-US" sz="912" dirty="0"/>
          </a:p>
        </p:txBody>
      </p:sp>
      <p:sp>
        <p:nvSpPr>
          <p:cNvPr id="11" name="Text 9"/>
          <p:cNvSpPr/>
          <p:nvPr/>
        </p:nvSpPr>
        <p:spPr>
          <a:xfrm>
            <a:off x="3981450" y="3549984"/>
            <a:ext cx="10531602" cy="1047750"/>
          </a:xfrm>
          <a:prstGeom prst="rect">
            <a:avLst/>
          </a:prstGeom>
          <a:noFill/>
          <a:ln/>
        </p:spPr>
        <p:txBody>
          <a:bodyPr wrap="square" lIns="0" tIns="0" rIns="0" bIns="0" rtlCol="0" anchor="t"/>
          <a:lstStyle/>
          <a:p>
            <a:pPr indent="0" marL="0">
              <a:lnSpc>
                <a:spcPts val="8250"/>
              </a:lnSpc>
              <a:buNone/>
            </a:pPr>
            <a:r>
              <a:rPr lang="en-US" sz="8250" dirty="0">
                <a:solidFill>
                  <a:srgbClr val="1E293B"/>
                </a:solidFill>
                <a:latin typeface="Times" pitchFamily="34" charset="0"/>
                <a:ea typeface="Times" pitchFamily="34" charset="-122"/>
                <a:cs typeface="Times" pitchFamily="34" charset="-120"/>
              </a:rPr>
              <a:t>🧭</a:t>
            </a:r>
            <a:endParaRPr lang="en-US" sz="8250" dirty="0"/>
          </a:p>
        </p:txBody>
      </p:sp>
      <p:sp>
        <p:nvSpPr>
          <p:cNvPr id="12" name="Text 10"/>
          <p:cNvSpPr/>
          <p:nvPr/>
        </p:nvSpPr>
        <p:spPr>
          <a:xfrm>
            <a:off x="3981450" y="4949130"/>
            <a:ext cx="10531602" cy="133350"/>
          </a:xfrm>
          <a:prstGeom prst="rect">
            <a:avLst/>
          </a:prstGeom>
          <a:noFill/>
          <a:ln/>
        </p:spPr>
        <p:txBody>
          <a:bodyPr wrap="square" lIns="0" tIns="0" rIns="0" bIns="0" rtlCol="0" anchor="t"/>
          <a:lstStyle/>
          <a:p>
            <a:pPr indent="0" marL="0">
              <a:lnSpc>
                <a:spcPts val="842"/>
              </a:lnSpc>
              <a:buNone/>
            </a:pPr>
            <a:r>
              <a:rPr lang="en-US" sz="936" b="1" dirty="0">
                <a:solidFill>
                  <a:srgbClr val="1E293B"/>
                </a:solidFill>
                <a:latin typeface="Times" pitchFamily="34" charset="0"/>
                <a:ea typeface="Times" pitchFamily="34" charset="-122"/>
                <a:cs typeface="Times" pitchFamily="34" charset="-120"/>
              </a:rPr>
              <a:t>Rapid learning session</a:t>
            </a:r>
            <a:endParaRPr lang="en-US" sz="936" dirty="0"/>
          </a:p>
        </p:txBody>
      </p:sp>
      <p:sp>
        <p:nvSpPr>
          <p:cNvPr id="13" name="Text 11"/>
          <p:cNvSpPr/>
          <p:nvPr/>
        </p:nvSpPr>
        <p:spPr>
          <a:xfrm>
            <a:off x="3981450" y="5286673"/>
            <a:ext cx="10531602" cy="352425"/>
          </a:xfrm>
          <a:prstGeom prst="rect">
            <a:avLst/>
          </a:prstGeom>
          <a:noFill/>
          <a:ln/>
        </p:spPr>
        <p:txBody>
          <a:bodyPr wrap="square" lIns="0" tIns="0" rIns="0" bIns="0" rtlCol="0" anchor="t"/>
          <a:lstStyle/>
          <a:p>
            <a:pPr indent="0" marL="0">
              <a:lnSpc>
                <a:spcPts val="2160"/>
              </a:lnSpc>
              <a:buNone/>
            </a:pPr>
            <a:r>
              <a:rPr lang="en-US" sz="2400" b="1" dirty="0">
                <a:solidFill>
                  <a:srgbClr val="FFFFFF"/>
                </a:solidFill>
                <a:latin typeface="Times" pitchFamily="34" charset="0"/>
                <a:ea typeface="Times" pitchFamily="34" charset="-122"/>
                <a:cs typeface="Times" pitchFamily="34" charset="-120"/>
              </a:rPr>
              <a:t>Spec-Driven Development</a:t>
            </a:r>
            <a:endParaRPr lang="en-US" sz="2400" dirty="0"/>
          </a:p>
        </p:txBody>
      </p:sp>
      <p:sp>
        <p:nvSpPr>
          <p:cNvPr id="14" name="Text 12"/>
          <p:cNvSpPr/>
          <p:nvPr/>
        </p:nvSpPr>
        <p:spPr>
          <a:xfrm>
            <a:off x="3981450" y="5843290"/>
            <a:ext cx="10531602" cy="171450"/>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A practical way to make AI-assisted software work from clear intent instead of conversational guesswork.</a:t>
            </a:r>
            <a:endParaRPr lang="en-US" sz="1200" dirty="0"/>
          </a:p>
        </p:txBody>
      </p:sp>
      <p:sp>
        <p:nvSpPr>
          <p:cNvPr id="15" name="Text 13"/>
          <p:cNvSpPr/>
          <p:nvPr/>
        </p:nvSpPr>
        <p:spPr>
          <a:xfrm>
            <a:off x="3990975" y="6395145"/>
            <a:ext cx="3361563" cy="171450"/>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Start with the contract</a:t>
            </a:r>
            <a:endParaRPr lang="en-US" sz="1200" dirty="0"/>
          </a:p>
        </p:txBody>
      </p:sp>
      <p:sp>
        <p:nvSpPr>
          <p:cNvPr id="16" name="Text 14"/>
          <p:cNvSpPr/>
          <p:nvPr/>
        </p:nvSpPr>
        <p:spPr>
          <a:xfrm>
            <a:off x="3990975" y="6566595"/>
            <a:ext cx="3295650" cy="342900"/>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Define behavior, scope, and success criteria before generating or writing code.</a:t>
            </a:r>
            <a:endParaRPr lang="en-US" sz="1200" dirty="0"/>
          </a:p>
        </p:txBody>
      </p:sp>
      <p:sp>
        <p:nvSpPr>
          <p:cNvPr id="17" name="Text 15"/>
          <p:cNvSpPr/>
          <p:nvPr/>
        </p:nvSpPr>
        <p:spPr>
          <a:xfrm>
            <a:off x="7496175" y="6395145"/>
            <a:ext cx="3361563" cy="171450"/>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Control the implementation</a:t>
            </a:r>
            <a:endParaRPr lang="en-US" sz="1200" dirty="0"/>
          </a:p>
        </p:txBody>
      </p:sp>
      <p:sp>
        <p:nvSpPr>
          <p:cNvPr id="18" name="Text 16"/>
          <p:cNvSpPr/>
          <p:nvPr/>
        </p:nvSpPr>
        <p:spPr>
          <a:xfrm>
            <a:off x="7496175" y="6566595"/>
            <a:ext cx="3295650" cy="342900"/>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Reduce ambiguity, rework, and drift, especially when using an LLM.</a:t>
            </a:r>
            <a:endParaRPr lang="en-US" sz="1200" dirty="0"/>
          </a:p>
        </p:txBody>
      </p:sp>
      <p:sp>
        <p:nvSpPr>
          <p:cNvPr id="19" name="Text 17"/>
          <p:cNvSpPr/>
          <p:nvPr/>
        </p:nvSpPr>
        <p:spPr>
          <a:xfrm>
            <a:off x="11001375" y="6395145"/>
            <a:ext cx="3361563" cy="171450"/>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Think like a PM</a:t>
            </a:r>
            <a:endParaRPr lang="en-US" sz="1200" dirty="0"/>
          </a:p>
        </p:txBody>
      </p:sp>
      <p:sp>
        <p:nvSpPr>
          <p:cNvPr id="20" name="Text 18"/>
          <p:cNvSpPr/>
          <p:nvPr/>
        </p:nvSpPr>
        <p:spPr>
          <a:xfrm>
            <a:off x="11001375" y="6566595"/>
            <a:ext cx="3295650" cy="342900"/>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Describe the product outcome and constraints, not the internal coding path.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8"/>
        </a:solidFill>
      </p:bgPr>
    </p:bg>
    <p:spTree>
      <p:nvGrpSpPr>
        <p:cNvPr id="1" name=""/>
        <p:cNvGrpSpPr/>
        <p:nvPr/>
      </p:nvGrpSpPr>
      <p:grpSpPr>
        <a:xfrm>
          <a:off x="0" y="0"/>
          <a:ext cx="0" cy="0"/>
          <a:chOff x="0" y="0"/>
          <a:chExt cx="0" cy="0"/>
        </a:xfrm>
      </p:grpSpPr>
      <p:sp>
        <p:nvSpPr>
          <p:cNvPr id="2" name="Text 0"/>
          <p:cNvSpPr/>
          <p:nvPr/>
        </p:nvSpPr>
        <p:spPr>
          <a:xfrm>
            <a:off x="14846700" y="-642425"/>
            <a:ext cx="3081620" cy="3081619"/>
          </a:xfrm>
          <a:prstGeom prst="roundRect">
            <a:avLst>
              <a:gd name="adj" fmla="val 148364"/>
            </a:avLst>
          </a:prstGeom>
          <a:solidFill>
            <a:srgbClr val="C2410C">
              <a:alpha val="10000"/>
            </a:srgbClr>
          </a:solidFill>
          <a:ln/>
        </p:spPr>
        <p:txBody>
          <a:bodyPr wrap="none" lIns="0" tIns="0" rIns="0" bIns="0" rtlCol="0" anchor="ctr">
            <a:normAutofit/>
          </a:bodyPr>
          <a:lstStyle/>
          <a:p>
            <a:pPr indent="0" marL="0">
              <a:buNone/>
            </a:pPr>
            <a:endParaRPr lang="en-US" dirty="0"/>
          </a:p>
        </p:txBody>
      </p:sp>
      <p:sp>
        <p:nvSpPr>
          <p:cNvPr id="3" name="Text 1"/>
          <p:cNvSpPr/>
          <p:nvPr/>
        </p:nvSpPr>
        <p:spPr>
          <a:xfrm>
            <a:off x="-456107" y="7868449"/>
            <a:ext cx="2355310" cy="2355311"/>
          </a:xfrm>
          <a:prstGeom prst="roundRect">
            <a:avLst>
              <a:gd name="adj" fmla="val 194115"/>
            </a:avLst>
          </a:prstGeom>
          <a:solidFill>
            <a:srgbClr val="65713A">
              <a:alpha val="10000"/>
            </a:srgbClr>
          </a:solidFill>
          <a:ln/>
        </p:spPr>
        <p:txBody>
          <a:bodyPr wrap="none" lIns="0" tIns="0" rIns="0" bIns="0" rtlCol="0" anchor="ctr">
            <a:normAutofit/>
          </a:bodyPr>
          <a:lstStyle/>
          <a:p>
            <a:pPr indent="0" marL="0">
              <a:buNone/>
            </a:pPr>
            <a:endParaRPr lang="en-US" dirty="0"/>
          </a:p>
        </p:txBody>
      </p:sp>
      <p:sp>
        <p:nvSpPr>
          <p:cNvPr id="4" name="Text 2"/>
          <p:cNvSpPr/>
          <p:nvPr/>
        </p:nvSpPr>
        <p:spPr>
          <a:xfrm>
            <a:off x="3782378" y="4781699"/>
            <a:ext cx="4795837" cy="1311503"/>
          </a:xfrm>
          <a:prstGeom prst="roundRect">
            <a:avLst>
              <a:gd name="adj" fmla="val 153387"/>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3791426" y="4790747"/>
            <a:ext cx="673142" cy="207556"/>
          </a:xfrm>
          <a:prstGeom prst="roundRect">
            <a:avLst>
              <a:gd name="adj" fmla="val 44011525"/>
            </a:avLst>
          </a:prstGeom>
          <a:solidFill>
            <a:srgbClr val="C2410C">
              <a:alpha val="10000"/>
            </a:srgbClr>
          </a:solidFill>
          <a:ln/>
        </p:spPr>
        <p:txBody>
          <a:bodyPr wrap="square" lIns="109728" tIns="109728" rIns="109728" bIns="109728" rtlCol="0" anchor="t">
            <a:normAutofit/>
          </a:bodyPr>
          <a:lstStyle/>
          <a:p>
            <a:pPr algn="l" indent="0" marL="0">
              <a:buNone/>
            </a:pPr>
            <a:r>
              <a:rPr lang="en-US" sz="912" b="1" dirty="0">
                <a:solidFill>
                  <a:srgbClr val="1E293B"/>
                </a:solidFill>
                <a:latin typeface="Times" pitchFamily="34" charset="0"/>
                <a:ea typeface="Times" pitchFamily="34" charset="-122"/>
                <a:cs typeface="Times" pitchFamily="34" charset="-120"/>
              </a:rPr>
              <a:t>Definition</a:t>
            </a:r>
            <a:endParaRPr lang="en-US" sz="912" dirty="0"/>
          </a:p>
        </p:txBody>
      </p:sp>
      <p:sp>
        <p:nvSpPr>
          <p:cNvPr id="6" name="Text 4"/>
          <p:cNvSpPr/>
          <p:nvPr/>
        </p:nvSpPr>
        <p:spPr>
          <a:xfrm>
            <a:off x="8795385" y="4781699"/>
            <a:ext cx="4795838" cy="1311503"/>
          </a:xfrm>
          <a:prstGeom prst="roundRect">
            <a:avLst>
              <a:gd name="adj" fmla="val 153387"/>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7" name="Text 5"/>
          <p:cNvSpPr/>
          <p:nvPr/>
        </p:nvSpPr>
        <p:spPr>
          <a:xfrm>
            <a:off x="8804434" y="4790747"/>
            <a:ext cx="839130" cy="207556"/>
          </a:xfrm>
          <a:prstGeom prst="roundRect">
            <a:avLst>
              <a:gd name="adj" fmla="val 44011525"/>
            </a:avLst>
          </a:prstGeom>
          <a:solidFill>
            <a:srgbClr val="C2410C">
              <a:alpha val="10000"/>
            </a:srgbClr>
          </a:solidFill>
          <a:ln/>
        </p:spPr>
        <p:txBody>
          <a:bodyPr wrap="square" lIns="109728" tIns="109728" rIns="109728" bIns="109728" rtlCol="0" anchor="t">
            <a:normAutofit/>
          </a:bodyPr>
          <a:lstStyle/>
          <a:p>
            <a:pPr algn="l" indent="0" marL="0">
              <a:buNone/>
            </a:pPr>
            <a:r>
              <a:rPr lang="en-US" sz="912" b="1" dirty="0">
                <a:solidFill>
                  <a:srgbClr val="1E293B"/>
                </a:solidFill>
                <a:latin typeface="Times" pitchFamily="34" charset="0"/>
                <a:ea typeface="Times" pitchFamily="34" charset="-122"/>
                <a:cs typeface="Times" pitchFamily="34" charset="-120"/>
              </a:rPr>
              <a:t>Core mindset</a:t>
            </a:r>
            <a:endParaRPr lang="en-US" sz="912" dirty="0"/>
          </a:p>
        </p:txBody>
      </p:sp>
      <p:sp>
        <p:nvSpPr>
          <p:cNvPr id="8" name="Text 6"/>
          <p:cNvSpPr/>
          <p:nvPr/>
        </p:nvSpPr>
        <p:spPr>
          <a:xfrm>
            <a:off x="3782378" y="4041398"/>
            <a:ext cx="10005022" cy="126683"/>
          </a:xfrm>
          <a:prstGeom prst="rect">
            <a:avLst/>
          </a:prstGeom>
          <a:noFill/>
          <a:ln/>
        </p:spPr>
        <p:txBody>
          <a:bodyPr wrap="square" lIns="0" tIns="0" rIns="0" bIns="0" rtlCol="0" anchor="t"/>
          <a:lstStyle/>
          <a:p>
            <a:pPr indent="0" marL="0">
              <a:lnSpc>
                <a:spcPts val="842"/>
              </a:lnSpc>
              <a:buNone/>
            </a:pPr>
            <a:r>
              <a:rPr lang="en-US" sz="936" b="1" dirty="0">
                <a:solidFill>
                  <a:srgbClr val="1E293B"/>
                </a:solidFill>
                <a:latin typeface="Times" pitchFamily="34" charset="0"/>
                <a:ea typeface="Times" pitchFamily="34" charset="-122"/>
                <a:cs typeface="Times" pitchFamily="34" charset="-120"/>
              </a:rPr>
              <a:t>Introduction</a:t>
            </a:r>
            <a:endParaRPr lang="en-US" sz="936" dirty="0"/>
          </a:p>
        </p:txBody>
      </p:sp>
      <p:sp>
        <p:nvSpPr>
          <p:cNvPr id="9" name="Text 7"/>
          <p:cNvSpPr/>
          <p:nvPr/>
        </p:nvSpPr>
        <p:spPr>
          <a:xfrm>
            <a:off x="3782378" y="4348207"/>
            <a:ext cx="10005022" cy="253365"/>
          </a:xfrm>
          <a:prstGeom prst="rect">
            <a:avLst/>
          </a:prstGeom>
          <a:noFill/>
          <a:ln/>
        </p:spPr>
        <p:txBody>
          <a:bodyPr wrap="square" lIns="0" tIns="0" rIns="0" bIns="0" rtlCol="0" anchor="t"/>
          <a:lstStyle/>
          <a:p>
            <a:pPr indent="0" marL="0">
              <a:lnSpc>
                <a:spcPts val="1620"/>
              </a:lnSpc>
              <a:buNone/>
            </a:pPr>
            <a:r>
              <a:rPr lang="en-US" sz="1800" b="1" dirty="0">
                <a:solidFill>
                  <a:srgbClr val="1E293B"/>
                </a:solidFill>
                <a:latin typeface="Times" pitchFamily="34" charset="0"/>
                <a:ea typeface="Times" pitchFamily="34" charset="-122"/>
                <a:cs typeface="Times" pitchFamily="34" charset="-120"/>
              </a:rPr>
              <a:t>What spec-driven development is</a:t>
            </a:r>
            <a:endParaRPr lang="en-US" sz="1800" dirty="0"/>
          </a:p>
        </p:txBody>
      </p:sp>
      <p:sp>
        <p:nvSpPr>
          <p:cNvPr id="10" name="Text 8"/>
          <p:cNvSpPr/>
          <p:nvPr/>
        </p:nvSpPr>
        <p:spPr>
          <a:xfrm>
            <a:off x="3791426" y="5143083"/>
            <a:ext cx="4777740"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Specification-driven development is a workflow where the specification is written and agreed first, then implementation is produced to satisfy that specification.</a:t>
            </a:r>
            <a:endParaRPr lang="en-US" sz="1200" dirty="0"/>
          </a:p>
        </p:txBody>
      </p:sp>
      <p:sp>
        <p:nvSpPr>
          <p:cNvPr id="11" name="Text 9"/>
          <p:cNvSpPr/>
          <p:nvPr/>
        </p:nvSpPr>
        <p:spPr>
          <a:xfrm>
            <a:off x="3791426" y="5613618"/>
            <a:ext cx="4777740"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The spec defines the </a:t>
            </a:r>
            <a:pPr indent="0" marL="0">
              <a:lnSpc>
                <a:spcPts val="1080"/>
              </a:lnSpc>
              <a:buNone/>
            </a:pPr>
            <a:r>
              <a:rPr lang="en-US" sz="1200" dirty="0">
                <a:solidFill>
                  <a:srgbClr val="1E293B"/>
                </a:solidFill>
                <a:latin typeface="Times" pitchFamily="34" charset="0"/>
                <a:ea typeface="Times" pitchFamily="34" charset="-122"/>
                <a:cs typeface="Times" pitchFamily="34" charset="-120"/>
              </a:rPr>
              <a:t>what</a:t>
            </a:r>
            <a:pPr indent="0" marL="0">
              <a:lnSpc>
                <a:spcPts val="1080"/>
              </a:lnSpc>
              <a:buNone/>
            </a:pPr>
            <a:r>
              <a:rPr lang="en-US" sz="1200" dirty="0">
                <a:solidFill>
                  <a:srgbClr val="1E293B"/>
                </a:solidFill>
                <a:latin typeface="Times" pitchFamily="34" charset="0"/>
                <a:ea typeface="Times" pitchFamily="34" charset="-122"/>
                <a:cs typeface="Times" pitchFamily="34" charset="-120"/>
              </a:rPr>
              <a:t>: expected behavior, interfaces, constraints, edge cases, and acceptance criteria. The code defines the </a:t>
            </a:r>
            <a:pPr indent="0" marL="0">
              <a:lnSpc>
                <a:spcPts val="1080"/>
              </a:lnSpc>
              <a:buNone/>
            </a:pPr>
            <a:r>
              <a:rPr lang="en-US" sz="1200" dirty="0">
                <a:solidFill>
                  <a:srgbClr val="1E293B"/>
                </a:solidFill>
                <a:latin typeface="Times" pitchFamily="34" charset="0"/>
                <a:ea typeface="Times" pitchFamily="34" charset="-122"/>
                <a:cs typeface="Times" pitchFamily="34" charset="-120"/>
              </a:rPr>
              <a:t>how</a:t>
            </a:r>
            <a:pPr indent="0" marL="0">
              <a:lnSpc>
                <a:spcPts val="1080"/>
              </a:lnSpc>
              <a:buNone/>
            </a:pPr>
            <a:r>
              <a:rPr lang="en-US" sz="1200" dirty="0">
                <a:solidFill>
                  <a:srgbClr val="1E293B"/>
                </a:solidFill>
                <a:latin typeface="Times" pitchFamily="34" charset="0"/>
                <a:ea typeface="Times" pitchFamily="34" charset="-122"/>
                <a:cs typeface="Times" pitchFamily="34" charset="-120"/>
              </a:rPr>
              <a:t>.</a:t>
            </a:r>
            <a:endParaRPr lang="en-US" sz="1200" dirty="0"/>
          </a:p>
        </p:txBody>
      </p:sp>
      <p:sp>
        <p:nvSpPr>
          <p:cNvPr id="12" name="Text 10"/>
          <p:cNvSpPr/>
          <p:nvPr/>
        </p:nvSpPr>
        <p:spPr>
          <a:xfrm>
            <a:off x="8804434" y="5143083"/>
            <a:ext cx="4777740" cy="488632"/>
          </a:xfrm>
          <a:prstGeom prst="rect">
            <a:avLst/>
          </a:prstGeom>
          <a:noFill/>
          <a:ln/>
        </p:spPr>
        <p:txBody>
          <a:bodyPr wrap="square" lIns="0" tIns="0" rIns="0" bIns="0" rtlCol="0" anchor="t"/>
          <a:lstStyle/>
          <a:p>
            <a:pPr marL="342900" indent="-342900">
              <a:lnSpc>
                <a:spcPts val="1080"/>
              </a:lnSpc>
              <a:buSzPct val="100000"/>
              <a:buChar char="•"/>
            </a:pPr>
            <a:r>
              <a:rPr lang="en-US" sz="1200" dirty="0">
                <a:solidFill>
                  <a:srgbClr val="1E293B"/>
                </a:solidFill>
                <a:latin typeface="Times" pitchFamily="34" charset="0"/>
                <a:ea typeface="Times" pitchFamily="34" charset="-122"/>
                <a:cs typeface="Times" pitchFamily="34" charset="-120"/>
              </a:rPr>
              <a:t>The spec becomes the shared source of truth.</a:t>
            </a:r>
            <a:endParaRPr lang="en-US" sz="1200" dirty="0"/>
          </a:p>
          <a:p>
            <a:pPr marL="342900" indent="-342900">
              <a:lnSpc>
                <a:spcPts val="1080"/>
              </a:lnSpc>
              <a:buSzPct val="100000"/>
              <a:buChar char="•"/>
            </a:pPr>
            <a:r>
              <a:rPr lang="en-US" sz="1200" dirty="0">
                <a:solidFill>
                  <a:srgbClr val="1E293B"/>
                </a:solidFill>
                <a:latin typeface="Times" pitchFamily="34" charset="0"/>
                <a:ea typeface="Times" pitchFamily="34" charset="-122"/>
                <a:cs typeface="Times" pitchFamily="34" charset="-120"/>
              </a:rPr>
              <a:t>Code is judged against the spec, not against memory of a chat.</a:t>
            </a:r>
            <a:endParaRPr lang="en-US" sz="1200" dirty="0"/>
          </a:p>
          <a:p>
            <a:pPr marL="342900" indent="-342900">
              <a:lnSpc>
                <a:spcPts val="1080"/>
              </a:lnSpc>
              <a:buSzPct val="100000"/>
              <a:buChar char="•"/>
            </a:pPr>
            <a:r>
              <a:rPr lang="en-US" sz="1200" dirty="0">
                <a:solidFill>
                  <a:srgbClr val="1E293B"/>
                </a:solidFill>
                <a:latin typeface="Times" pitchFamily="34" charset="0"/>
                <a:ea typeface="Times" pitchFamily="34" charset="-122"/>
                <a:cs typeface="Times" pitchFamily="34" charset="-120"/>
              </a:rPr>
              <a:t>Iteration still exists, but it happens by revising the spec deliberately.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8"/>
        </a:solidFill>
      </p:bgPr>
    </p:bg>
    <p:spTree>
      <p:nvGrpSpPr>
        <p:cNvPr id="1" name=""/>
        <p:cNvGrpSpPr/>
        <p:nvPr/>
      </p:nvGrpSpPr>
      <p:grpSpPr>
        <a:xfrm>
          <a:off x="0" y="0"/>
          <a:ext cx="0" cy="0"/>
          <a:chOff x="0" y="0"/>
          <a:chExt cx="0" cy="0"/>
        </a:xfrm>
      </p:grpSpPr>
      <p:sp>
        <p:nvSpPr>
          <p:cNvPr id="2" name="Text 0"/>
          <p:cNvSpPr/>
          <p:nvPr/>
        </p:nvSpPr>
        <p:spPr>
          <a:xfrm>
            <a:off x="14846552" y="-823549"/>
            <a:ext cx="3262890" cy="3262891"/>
          </a:xfrm>
          <a:prstGeom prst="roundRect">
            <a:avLst>
              <a:gd name="adj" fmla="val 140121"/>
            </a:avLst>
          </a:prstGeom>
          <a:solidFill>
            <a:srgbClr val="1E293B">
              <a:alpha val="9000"/>
            </a:srgbClr>
          </a:solidFill>
          <a:ln/>
        </p:spPr>
        <p:txBody>
          <a:bodyPr wrap="none" lIns="0" tIns="0" rIns="0" bIns="0" rtlCol="0" anchor="ctr">
            <a:normAutofit/>
          </a:bodyPr>
          <a:lstStyle/>
          <a:p>
            <a:pPr indent="0" marL="0">
              <a:buNone/>
            </a:pPr>
            <a:endParaRPr lang="en-US" dirty="0"/>
          </a:p>
        </p:txBody>
      </p:sp>
      <p:sp>
        <p:nvSpPr>
          <p:cNvPr id="3" name="Text 1"/>
          <p:cNvSpPr/>
          <p:nvPr/>
        </p:nvSpPr>
        <p:spPr>
          <a:xfrm>
            <a:off x="-456208" y="7777860"/>
            <a:ext cx="2536488" cy="2536487"/>
          </a:xfrm>
          <a:prstGeom prst="roundRect">
            <a:avLst>
              <a:gd name="adj" fmla="val 180249"/>
            </a:avLst>
          </a:prstGeom>
          <a:solidFill>
            <a:srgbClr val="C2410C">
              <a:alpha val="10000"/>
            </a:srgbClr>
          </a:solidFill>
          <a:ln/>
        </p:spPr>
        <p:txBody>
          <a:bodyPr wrap="none" lIns="0" tIns="0" rIns="0" bIns="0" rtlCol="0" anchor="ctr">
            <a:normAutofit/>
          </a:bodyPr>
          <a:lstStyle/>
          <a:p>
            <a:pPr indent="0" marL="0">
              <a:buNone/>
            </a:pPr>
            <a:endParaRPr lang="en-US" dirty="0"/>
          </a:p>
        </p:txBody>
      </p:sp>
      <p:sp>
        <p:nvSpPr>
          <p:cNvPr id="4" name="Text 2"/>
          <p:cNvSpPr/>
          <p:nvPr/>
        </p:nvSpPr>
        <p:spPr>
          <a:xfrm>
            <a:off x="3782378" y="4758794"/>
            <a:ext cx="3148965" cy="723899"/>
          </a:xfrm>
          <a:prstGeom prst="roundRect">
            <a:avLst>
              <a:gd name="adj" fmla="val 27789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7112318" y="4758794"/>
            <a:ext cx="3148964" cy="723899"/>
          </a:xfrm>
          <a:prstGeom prst="roundRect">
            <a:avLst>
              <a:gd name="adj" fmla="val 27789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6" name="Text 4"/>
          <p:cNvSpPr/>
          <p:nvPr/>
        </p:nvSpPr>
        <p:spPr>
          <a:xfrm>
            <a:off x="10442257" y="4758794"/>
            <a:ext cx="3148966" cy="723899"/>
          </a:xfrm>
          <a:prstGeom prst="roundRect">
            <a:avLst>
              <a:gd name="adj" fmla="val 27789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7" name="Text 5"/>
          <p:cNvSpPr/>
          <p:nvPr/>
        </p:nvSpPr>
        <p:spPr>
          <a:xfrm>
            <a:off x="3782378" y="5482694"/>
            <a:ext cx="9808845" cy="633413"/>
          </a:xfrm>
          <a:prstGeom prst="roundRect">
            <a:avLst>
              <a:gd name="adj" fmla="val 317594"/>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8" name="Text 6"/>
          <p:cNvSpPr/>
          <p:nvPr/>
        </p:nvSpPr>
        <p:spPr>
          <a:xfrm>
            <a:off x="3782378" y="4018493"/>
            <a:ext cx="10005022" cy="126682"/>
          </a:xfrm>
          <a:prstGeom prst="rect">
            <a:avLst/>
          </a:prstGeom>
          <a:noFill/>
          <a:ln/>
        </p:spPr>
        <p:txBody>
          <a:bodyPr wrap="square" lIns="0" tIns="0" rIns="0" bIns="0" rtlCol="0" anchor="t"/>
          <a:lstStyle/>
          <a:p>
            <a:pPr indent="0" marL="0">
              <a:lnSpc>
                <a:spcPts val="842"/>
              </a:lnSpc>
              <a:buNone/>
            </a:pPr>
            <a:r>
              <a:rPr lang="en-US" sz="936" b="1" dirty="0">
                <a:solidFill>
                  <a:srgbClr val="1E293B"/>
                </a:solidFill>
                <a:latin typeface="Times" pitchFamily="34" charset="0"/>
                <a:ea typeface="Times" pitchFamily="34" charset="-122"/>
                <a:cs typeface="Times" pitchFamily="34" charset="-120"/>
              </a:rPr>
              <a:t>Ideology</a:t>
            </a:r>
            <a:endParaRPr lang="en-US" sz="936" dirty="0"/>
          </a:p>
        </p:txBody>
      </p:sp>
      <p:sp>
        <p:nvSpPr>
          <p:cNvPr id="9" name="Text 7"/>
          <p:cNvSpPr/>
          <p:nvPr/>
        </p:nvSpPr>
        <p:spPr>
          <a:xfrm>
            <a:off x="3782378" y="4325303"/>
            <a:ext cx="10005022" cy="253365"/>
          </a:xfrm>
          <a:prstGeom prst="rect">
            <a:avLst/>
          </a:prstGeom>
          <a:noFill/>
          <a:ln/>
        </p:spPr>
        <p:txBody>
          <a:bodyPr wrap="square" lIns="0" tIns="0" rIns="0" bIns="0" rtlCol="0" anchor="t"/>
          <a:lstStyle/>
          <a:p>
            <a:pPr indent="0" marL="0">
              <a:lnSpc>
                <a:spcPts val="1620"/>
              </a:lnSpc>
              <a:buNone/>
            </a:pPr>
            <a:r>
              <a:rPr lang="en-US" sz="1800" b="1" dirty="0">
                <a:solidFill>
                  <a:srgbClr val="1E293B"/>
                </a:solidFill>
                <a:latin typeface="Times" pitchFamily="34" charset="0"/>
                <a:ea typeface="Times" pitchFamily="34" charset="-122"/>
                <a:cs typeface="Times" pitchFamily="34" charset="-120"/>
              </a:rPr>
              <a:t>The idea behind the process</a:t>
            </a:r>
            <a:endParaRPr lang="en-US" sz="1800" dirty="0"/>
          </a:p>
        </p:txBody>
      </p:sp>
      <p:sp>
        <p:nvSpPr>
          <p:cNvPr id="10" name="Text 8"/>
          <p:cNvSpPr/>
          <p:nvPr/>
        </p:nvSpPr>
        <p:spPr>
          <a:xfrm>
            <a:off x="3791426" y="4767843"/>
            <a:ext cx="3193485" cy="217170"/>
          </a:xfrm>
          <a:prstGeom prst="rect">
            <a:avLst/>
          </a:prstGeom>
          <a:noFill/>
          <a:ln/>
        </p:spPr>
        <p:txBody>
          <a:bodyPr wrap="square" lIns="0" tIns="0" rIns="0" bIns="0" rtlCol="0" anchor="t"/>
          <a:lstStyle/>
          <a:p>
            <a:pPr indent="0" marL="0">
              <a:lnSpc>
                <a:spcPts val="1800"/>
              </a:lnSpc>
              <a:buNone/>
            </a:pPr>
            <a:r>
              <a:rPr lang="en-US" sz="1800" dirty="0">
                <a:solidFill>
                  <a:srgbClr val="1E293B"/>
                </a:solidFill>
                <a:latin typeface="Times" pitchFamily="34" charset="0"/>
                <a:ea typeface="Times" pitchFamily="34" charset="-122"/>
                <a:cs typeface="Times" pitchFamily="34" charset="-120"/>
              </a:rPr>
              <a:t>🎯</a:t>
            </a:r>
            <a:endParaRPr lang="en-US" sz="1800" dirty="0"/>
          </a:p>
        </p:txBody>
      </p:sp>
      <p:sp>
        <p:nvSpPr>
          <p:cNvPr id="11" name="Text 9"/>
          <p:cNvSpPr/>
          <p:nvPr/>
        </p:nvSpPr>
        <p:spPr>
          <a:xfrm>
            <a:off x="3791426" y="4985013"/>
            <a:ext cx="3193485"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Intent before execution</a:t>
            </a:r>
            <a:endParaRPr lang="en-US" sz="1200" dirty="0"/>
          </a:p>
        </p:txBody>
      </p:sp>
      <p:sp>
        <p:nvSpPr>
          <p:cNvPr id="12" name="Text 10"/>
          <p:cNvSpPr/>
          <p:nvPr/>
        </p:nvSpPr>
        <p:spPr>
          <a:xfrm>
            <a:off x="3791426" y="5147890"/>
            <a:ext cx="3130868"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Make the desired outcome explicit before implementation begins.</a:t>
            </a:r>
            <a:endParaRPr lang="en-US" sz="1200" dirty="0"/>
          </a:p>
        </p:txBody>
      </p:sp>
      <p:sp>
        <p:nvSpPr>
          <p:cNvPr id="13" name="Text 11"/>
          <p:cNvSpPr/>
          <p:nvPr/>
        </p:nvSpPr>
        <p:spPr>
          <a:xfrm>
            <a:off x="7121366" y="4767843"/>
            <a:ext cx="3193485" cy="217170"/>
          </a:xfrm>
          <a:prstGeom prst="rect">
            <a:avLst/>
          </a:prstGeom>
          <a:noFill/>
          <a:ln/>
        </p:spPr>
        <p:txBody>
          <a:bodyPr wrap="square" lIns="0" tIns="0" rIns="0" bIns="0" rtlCol="0" anchor="t"/>
          <a:lstStyle/>
          <a:p>
            <a:pPr indent="0" marL="0">
              <a:lnSpc>
                <a:spcPts val="1800"/>
              </a:lnSpc>
              <a:buNone/>
            </a:pPr>
            <a:r>
              <a:rPr lang="en-US" sz="1800" dirty="0">
                <a:solidFill>
                  <a:srgbClr val="1E293B"/>
                </a:solidFill>
                <a:latin typeface="Times" pitchFamily="34" charset="0"/>
                <a:ea typeface="Times" pitchFamily="34" charset="-122"/>
                <a:cs typeface="Times" pitchFamily="34" charset="-120"/>
              </a:rPr>
              <a:t>🤝</a:t>
            </a:r>
            <a:endParaRPr lang="en-US" sz="1800" dirty="0"/>
          </a:p>
        </p:txBody>
      </p:sp>
      <p:sp>
        <p:nvSpPr>
          <p:cNvPr id="14" name="Text 12"/>
          <p:cNvSpPr/>
          <p:nvPr/>
        </p:nvSpPr>
        <p:spPr>
          <a:xfrm>
            <a:off x="7121366" y="4985013"/>
            <a:ext cx="3193485"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Shared agreement</a:t>
            </a:r>
            <a:endParaRPr lang="en-US" sz="1200" dirty="0"/>
          </a:p>
        </p:txBody>
      </p:sp>
      <p:sp>
        <p:nvSpPr>
          <p:cNvPr id="15" name="Text 13"/>
          <p:cNvSpPr/>
          <p:nvPr/>
        </p:nvSpPr>
        <p:spPr>
          <a:xfrm>
            <a:off x="7121366" y="5147890"/>
            <a:ext cx="3130868"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Product, engineering, and QA align on one contract instead of multiple interpretations.</a:t>
            </a:r>
            <a:endParaRPr lang="en-US" sz="1200" dirty="0"/>
          </a:p>
        </p:txBody>
      </p:sp>
      <p:sp>
        <p:nvSpPr>
          <p:cNvPr id="16" name="Text 14"/>
          <p:cNvSpPr/>
          <p:nvPr/>
        </p:nvSpPr>
        <p:spPr>
          <a:xfrm>
            <a:off x="10451306" y="4767843"/>
            <a:ext cx="3193484" cy="217170"/>
          </a:xfrm>
          <a:prstGeom prst="rect">
            <a:avLst/>
          </a:prstGeom>
          <a:noFill/>
          <a:ln/>
        </p:spPr>
        <p:txBody>
          <a:bodyPr wrap="square" lIns="0" tIns="0" rIns="0" bIns="0" rtlCol="0" anchor="t"/>
          <a:lstStyle/>
          <a:p>
            <a:pPr indent="0" marL="0">
              <a:lnSpc>
                <a:spcPts val="1800"/>
              </a:lnSpc>
              <a:buNone/>
            </a:pPr>
            <a:r>
              <a:rPr lang="en-US" sz="1800" dirty="0">
                <a:solidFill>
                  <a:srgbClr val="1E293B"/>
                </a:solidFill>
                <a:latin typeface="Times" pitchFamily="34" charset="0"/>
                <a:ea typeface="Times" pitchFamily="34" charset="-122"/>
                <a:cs typeface="Times" pitchFamily="34" charset="-120"/>
              </a:rPr>
              <a:t>🧪</a:t>
            </a:r>
            <a:endParaRPr lang="en-US" sz="1800" dirty="0"/>
          </a:p>
        </p:txBody>
      </p:sp>
      <p:sp>
        <p:nvSpPr>
          <p:cNvPr id="17" name="Text 15"/>
          <p:cNvSpPr/>
          <p:nvPr/>
        </p:nvSpPr>
        <p:spPr>
          <a:xfrm>
            <a:off x="10451306" y="4985013"/>
            <a:ext cx="3193484"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Verification over vibes</a:t>
            </a:r>
            <a:endParaRPr lang="en-US" sz="1200" dirty="0"/>
          </a:p>
        </p:txBody>
      </p:sp>
      <p:sp>
        <p:nvSpPr>
          <p:cNvPr id="18" name="Text 16"/>
          <p:cNvSpPr/>
          <p:nvPr/>
        </p:nvSpPr>
        <p:spPr>
          <a:xfrm>
            <a:off x="10451306" y="5147890"/>
            <a:ext cx="3130867"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The question becomes “does this satisfy the spec?” rather than “does this seem close enough?”</a:t>
            </a:r>
            <a:endParaRPr lang="en-US" sz="1200" dirty="0"/>
          </a:p>
        </p:txBody>
      </p:sp>
      <p:sp>
        <p:nvSpPr>
          <p:cNvPr id="19" name="Text 17"/>
          <p:cNvSpPr/>
          <p:nvPr/>
        </p:nvSpPr>
        <p:spPr>
          <a:xfrm>
            <a:off x="3791426" y="5636523"/>
            <a:ext cx="9790747"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This matters more in AI-assisted development because code generation is cheap, but verifying wrong code still costs time. Spec-driven development uses the specification to control that cost by constraining what the LLM should build.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8"/>
        </a:solidFill>
      </p:bgPr>
    </p:bg>
    <p:spTree>
      <p:nvGrpSpPr>
        <p:cNvPr id="1" name=""/>
        <p:cNvGrpSpPr/>
        <p:nvPr/>
      </p:nvGrpSpPr>
      <p:grpSpPr>
        <a:xfrm>
          <a:off x="0" y="0"/>
          <a:ext cx="0" cy="0"/>
          <a:chOff x="0" y="0"/>
          <a:chExt cx="0" cy="0"/>
        </a:xfrm>
      </p:grpSpPr>
      <p:sp>
        <p:nvSpPr>
          <p:cNvPr id="2" name="Text 0"/>
          <p:cNvSpPr/>
          <p:nvPr/>
        </p:nvSpPr>
        <p:spPr>
          <a:xfrm>
            <a:off x="15027825" y="-551789"/>
            <a:ext cx="2900347" cy="2900348"/>
          </a:xfrm>
          <a:prstGeom prst="roundRect">
            <a:avLst>
              <a:gd name="adj" fmla="val 157636"/>
            </a:avLst>
          </a:prstGeom>
          <a:solidFill>
            <a:srgbClr val="C2410C">
              <a:alpha val="10000"/>
            </a:srgbClr>
          </a:solidFill>
          <a:ln/>
        </p:spPr>
        <p:txBody>
          <a:bodyPr wrap="none" lIns="0" tIns="0" rIns="0" bIns="0" rtlCol="0" anchor="ctr">
            <a:normAutofit/>
          </a:bodyPr>
          <a:lstStyle/>
          <a:p>
            <a:pPr indent="0" marL="0">
              <a:buNone/>
            </a:pPr>
            <a:endParaRPr lang="en-US" dirty="0"/>
          </a:p>
        </p:txBody>
      </p:sp>
      <p:sp>
        <p:nvSpPr>
          <p:cNvPr id="3" name="Text 1"/>
          <p:cNvSpPr/>
          <p:nvPr/>
        </p:nvSpPr>
        <p:spPr>
          <a:xfrm>
            <a:off x="-456006" y="8049525"/>
            <a:ext cx="2174133" cy="2174134"/>
          </a:xfrm>
          <a:prstGeom prst="roundRect">
            <a:avLst>
              <a:gd name="adj" fmla="val 210291"/>
            </a:avLst>
          </a:prstGeom>
          <a:solidFill>
            <a:srgbClr val="65713A">
              <a:alpha val="9000"/>
            </a:srgbClr>
          </a:solidFill>
          <a:ln/>
        </p:spPr>
        <p:txBody>
          <a:bodyPr wrap="none" lIns="0" tIns="0" rIns="0" bIns="0" rtlCol="0" anchor="ctr">
            <a:normAutofit/>
          </a:bodyPr>
          <a:lstStyle/>
          <a:p>
            <a:pPr indent="0" marL="0">
              <a:buNone/>
            </a:pPr>
            <a:endParaRPr lang="en-US" dirty="0"/>
          </a:p>
        </p:txBody>
      </p:sp>
      <p:sp>
        <p:nvSpPr>
          <p:cNvPr id="4" name="Text 2"/>
          <p:cNvSpPr/>
          <p:nvPr/>
        </p:nvSpPr>
        <p:spPr>
          <a:xfrm>
            <a:off x="3782378" y="4713551"/>
            <a:ext cx="3148965" cy="941070"/>
          </a:xfrm>
          <a:prstGeom prst="roundRect">
            <a:avLst>
              <a:gd name="adj" fmla="val 21376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7112318" y="4713551"/>
            <a:ext cx="3148964" cy="941070"/>
          </a:xfrm>
          <a:prstGeom prst="roundRect">
            <a:avLst>
              <a:gd name="adj" fmla="val 21376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6" name="Text 4"/>
          <p:cNvSpPr/>
          <p:nvPr/>
        </p:nvSpPr>
        <p:spPr>
          <a:xfrm>
            <a:off x="10442257" y="4713551"/>
            <a:ext cx="3148966" cy="941070"/>
          </a:xfrm>
          <a:prstGeom prst="roundRect">
            <a:avLst>
              <a:gd name="adj" fmla="val 21376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7" name="Text 5"/>
          <p:cNvSpPr/>
          <p:nvPr/>
        </p:nvSpPr>
        <p:spPr>
          <a:xfrm>
            <a:off x="3782378" y="5654621"/>
            <a:ext cx="3148965" cy="506730"/>
          </a:xfrm>
          <a:prstGeom prst="roundRect">
            <a:avLst>
              <a:gd name="adj" fmla="val 396992"/>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8" name="Text 6"/>
          <p:cNvSpPr/>
          <p:nvPr/>
        </p:nvSpPr>
        <p:spPr>
          <a:xfrm>
            <a:off x="7112318" y="5654621"/>
            <a:ext cx="3148964" cy="506730"/>
          </a:xfrm>
          <a:prstGeom prst="roundRect">
            <a:avLst>
              <a:gd name="adj" fmla="val 396992"/>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9" name="Text 7"/>
          <p:cNvSpPr/>
          <p:nvPr/>
        </p:nvSpPr>
        <p:spPr>
          <a:xfrm>
            <a:off x="10442257" y="5654621"/>
            <a:ext cx="3148966" cy="506730"/>
          </a:xfrm>
          <a:prstGeom prst="roundRect">
            <a:avLst>
              <a:gd name="adj" fmla="val 396992"/>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10" name="Text 8"/>
          <p:cNvSpPr/>
          <p:nvPr/>
        </p:nvSpPr>
        <p:spPr>
          <a:xfrm>
            <a:off x="3782378" y="3973250"/>
            <a:ext cx="10005022" cy="126682"/>
          </a:xfrm>
          <a:prstGeom prst="rect">
            <a:avLst/>
          </a:prstGeom>
          <a:noFill/>
          <a:ln/>
        </p:spPr>
        <p:txBody>
          <a:bodyPr wrap="square" lIns="0" tIns="0" rIns="0" bIns="0" rtlCol="0" anchor="t"/>
          <a:lstStyle/>
          <a:p>
            <a:pPr indent="0" marL="0">
              <a:lnSpc>
                <a:spcPts val="842"/>
              </a:lnSpc>
              <a:buNone/>
            </a:pPr>
            <a:r>
              <a:rPr lang="en-US" sz="936" b="1" dirty="0">
                <a:solidFill>
                  <a:srgbClr val="1E293B"/>
                </a:solidFill>
                <a:latin typeface="Times" pitchFamily="34" charset="0"/>
                <a:ea typeface="Times" pitchFamily="34" charset="-122"/>
                <a:cs typeface="Times" pitchFamily="34" charset="-120"/>
              </a:rPr>
              <a:t>Why use it</a:t>
            </a:r>
            <a:endParaRPr lang="en-US" sz="936" dirty="0"/>
          </a:p>
        </p:txBody>
      </p:sp>
      <p:sp>
        <p:nvSpPr>
          <p:cNvPr id="11" name="Text 9"/>
          <p:cNvSpPr/>
          <p:nvPr/>
        </p:nvSpPr>
        <p:spPr>
          <a:xfrm>
            <a:off x="3782378" y="4280059"/>
            <a:ext cx="10005022" cy="253365"/>
          </a:xfrm>
          <a:prstGeom prst="rect">
            <a:avLst/>
          </a:prstGeom>
          <a:noFill/>
          <a:ln/>
        </p:spPr>
        <p:txBody>
          <a:bodyPr wrap="square" lIns="0" tIns="0" rIns="0" bIns="0" rtlCol="0" anchor="t"/>
          <a:lstStyle/>
          <a:p>
            <a:pPr indent="0" marL="0">
              <a:lnSpc>
                <a:spcPts val="1620"/>
              </a:lnSpc>
              <a:buNone/>
            </a:pPr>
            <a:r>
              <a:rPr lang="en-US" sz="1800" b="1" dirty="0">
                <a:solidFill>
                  <a:srgbClr val="1E293B"/>
                </a:solidFill>
                <a:latin typeface="Times" pitchFamily="34" charset="0"/>
                <a:ea typeface="Times" pitchFamily="34" charset="-122"/>
                <a:cs typeface="Times" pitchFamily="34" charset="-120"/>
              </a:rPr>
              <a:t>Why teams adopt it</a:t>
            </a:r>
            <a:endParaRPr lang="en-US" sz="1800" dirty="0"/>
          </a:p>
        </p:txBody>
      </p:sp>
      <p:sp>
        <p:nvSpPr>
          <p:cNvPr id="12" name="Text 10"/>
          <p:cNvSpPr/>
          <p:nvPr/>
        </p:nvSpPr>
        <p:spPr>
          <a:xfrm>
            <a:off x="3791426" y="4722599"/>
            <a:ext cx="3193485" cy="434340"/>
          </a:xfrm>
          <a:prstGeom prst="rect">
            <a:avLst/>
          </a:prstGeom>
          <a:noFill/>
          <a:ln/>
        </p:spPr>
        <p:txBody>
          <a:bodyPr wrap="square" lIns="0" tIns="0" rIns="0" bIns="0" rtlCol="0" anchor="t"/>
          <a:lstStyle/>
          <a:p>
            <a:pPr indent="0" marL="0">
              <a:lnSpc>
                <a:spcPts val="3600"/>
              </a:lnSpc>
              <a:buNone/>
            </a:pPr>
            <a:r>
              <a:rPr lang="en-US" sz="3600" b="1" dirty="0">
                <a:solidFill>
                  <a:srgbClr val="1E293B"/>
                </a:solidFill>
                <a:latin typeface="Times" pitchFamily="34" charset="0"/>
                <a:ea typeface="Times" pitchFamily="34" charset="-122"/>
                <a:cs typeface="Times" pitchFamily="34" charset="-120"/>
              </a:rPr>
              <a:t>Less</a:t>
            </a:r>
            <a:endParaRPr lang="en-US" sz="3600" dirty="0"/>
          </a:p>
        </p:txBody>
      </p:sp>
      <p:sp>
        <p:nvSpPr>
          <p:cNvPr id="13" name="Text 11"/>
          <p:cNvSpPr/>
          <p:nvPr/>
        </p:nvSpPr>
        <p:spPr>
          <a:xfrm>
            <a:off x="3791426" y="5156939"/>
            <a:ext cx="3193485"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Ambiguity</a:t>
            </a:r>
            <a:endParaRPr lang="en-US" sz="1200" dirty="0"/>
          </a:p>
        </p:txBody>
      </p:sp>
      <p:sp>
        <p:nvSpPr>
          <p:cNvPr id="14" name="Text 12"/>
          <p:cNvSpPr/>
          <p:nvPr/>
        </p:nvSpPr>
        <p:spPr>
          <a:xfrm>
            <a:off x="3791426" y="5319817"/>
            <a:ext cx="3193485"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Requirements are clarified before code accumulates.</a:t>
            </a:r>
            <a:endParaRPr lang="en-US" sz="1200" dirty="0"/>
          </a:p>
        </p:txBody>
      </p:sp>
      <p:sp>
        <p:nvSpPr>
          <p:cNvPr id="15" name="Text 13"/>
          <p:cNvSpPr/>
          <p:nvPr/>
        </p:nvSpPr>
        <p:spPr>
          <a:xfrm>
            <a:off x="7121366" y="4722599"/>
            <a:ext cx="3193485" cy="434340"/>
          </a:xfrm>
          <a:prstGeom prst="rect">
            <a:avLst/>
          </a:prstGeom>
          <a:noFill/>
          <a:ln/>
        </p:spPr>
        <p:txBody>
          <a:bodyPr wrap="square" lIns="0" tIns="0" rIns="0" bIns="0" rtlCol="0" anchor="t"/>
          <a:lstStyle/>
          <a:p>
            <a:pPr indent="0" marL="0">
              <a:lnSpc>
                <a:spcPts val="3600"/>
              </a:lnSpc>
              <a:buNone/>
            </a:pPr>
            <a:r>
              <a:rPr lang="en-US" sz="3600" b="1" dirty="0">
                <a:solidFill>
                  <a:srgbClr val="1E293B"/>
                </a:solidFill>
                <a:latin typeface="Times" pitchFamily="34" charset="0"/>
                <a:ea typeface="Times" pitchFamily="34" charset="-122"/>
                <a:cs typeface="Times" pitchFamily="34" charset="-120"/>
              </a:rPr>
              <a:t>Less</a:t>
            </a:r>
            <a:endParaRPr lang="en-US" sz="3600" dirty="0"/>
          </a:p>
        </p:txBody>
      </p:sp>
      <p:sp>
        <p:nvSpPr>
          <p:cNvPr id="16" name="Text 14"/>
          <p:cNvSpPr/>
          <p:nvPr/>
        </p:nvSpPr>
        <p:spPr>
          <a:xfrm>
            <a:off x="7121366" y="5156939"/>
            <a:ext cx="3193485"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Rework</a:t>
            </a:r>
            <a:endParaRPr lang="en-US" sz="1200" dirty="0"/>
          </a:p>
        </p:txBody>
      </p:sp>
      <p:sp>
        <p:nvSpPr>
          <p:cNvPr id="17" name="Text 15"/>
          <p:cNvSpPr/>
          <p:nvPr/>
        </p:nvSpPr>
        <p:spPr>
          <a:xfrm>
            <a:off x="7121366" y="5319817"/>
            <a:ext cx="3130868"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Misunderstandings are resolved at the spec stage, where change is cheaper.</a:t>
            </a:r>
            <a:endParaRPr lang="en-US" sz="1200" dirty="0"/>
          </a:p>
        </p:txBody>
      </p:sp>
      <p:sp>
        <p:nvSpPr>
          <p:cNvPr id="18" name="Text 16"/>
          <p:cNvSpPr/>
          <p:nvPr/>
        </p:nvSpPr>
        <p:spPr>
          <a:xfrm>
            <a:off x="10451306" y="4722599"/>
            <a:ext cx="3193484" cy="434340"/>
          </a:xfrm>
          <a:prstGeom prst="rect">
            <a:avLst/>
          </a:prstGeom>
          <a:noFill/>
          <a:ln/>
        </p:spPr>
        <p:txBody>
          <a:bodyPr wrap="square" lIns="0" tIns="0" rIns="0" bIns="0" rtlCol="0" anchor="t"/>
          <a:lstStyle/>
          <a:p>
            <a:pPr indent="0" marL="0">
              <a:lnSpc>
                <a:spcPts val="3600"/>
              </a:lnSpc>
              <a:buNone/>
            </a:pPr>
            <a:r>
              <a:rPr lang="en-US" sz="3600" b="1" dirty="0">
                <a:solidFill>
                  <a:srgbClr val="1E293B"/>
                </a:solidFill>
                <a:latin typeface="Times" pitchFamily="34" charset="0"/>
                <a:ea typeface="Times" pitchFamily="34" charset="-122"/>
                <a:cs typeface="Times" pitchFamily="34" charset="-120"/>
              </a:rPr>
              <a:t>More</a:t>
            </a:r>
            <a:endParaRPr lang="en-US" sz="3600" dirty="0"/>
          </a:p>
        </p:txBody>
      </p:sp>
      <p:sp>
        <p:nvSpPr>
          <p:cNvPr id="19" name="Text 17"/>
          <p:cNvSpPr/>
          <p:nvPr/>
        </p:nvSpPr>
        <p:spPr>
          <a:xfrm>
            <a:off x="10451306" y="5156939"/>
            <a:ext cx="3193484"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Alignment</a:t>
            </a:r>
            <a:endParaRPr lang="en-US" sz="1200" dirty="0"/>
          </a:p>
        </p:txBody>
      </p:sp>
      <p:sp>
        <p:nvSpPr>
          <p:cNvPr id="20" name="Text 18"/>
          <p:cNvSpPr/>
          <p:nvPr/>
        </p:nvSpPr>
        <p:spPr>
          <a:xfrm>
            <a:off x="10451306" y="5319817"/>
            <a:ext cx="3130867"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Product, engineering, and QA evaluate the same artifact.</a:t>
            </a:r>
            <a:endParaRPr lang="en-US" sz="1200" dirty="0"/>
          </a:p>
        </p:txBody>
      </p:sp>
      <p:sp>
        <p:nvSpPr>
          <p:cNvPr id="21" name="Text 19"/>
          <p:cNvSpPr/>
          <p:nvPr/>
        </p:nvSpPr>
        <p:spPr>
          <a:xfrm>
            <a:off x="3791426" y="5663669"/>
            <a:ext cx="3193485"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Easier testing</a:t>
            </a:r>
            <a:endParaRPr lang="en-US" sz="1200" dirty="0"/>
          </a:p>
        </p:txBody>
      </p:sp>
      <p:sp>
        <p:nvSpPr>
          <p:cNvPr id="22" name="Text 20"/>
          <p:cNvSpPr/>
          <p:nvPr/>
        </p:nvSpPr>
        <p:spPr>
          <a:xfrm>
            <a:off x="3791426" y="5826547"/>
            <a:ext cx="3130868"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Acceptance criteria can directly drive test cases and review checklists.</a:t>
            </a:r>
            <a:endParaRPr lang="en-US" sz="1200" dirty="0"/>
          </a:p>
        </p:txBody>
      </p:sp>
      <p:sp>
        <p:nvSpPr>
          <p:cNvPr id="23" name="Text 21"/>
          <p:cNvSpPr/>
          <p:nvPr/>
        </p:nvSpPr>
        <p:spPr>
          <a:xfrm>
            <a:off x="7121366" y="5663669"/>
            <a:ext cx="3193485"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Better maintainability</a:t>
            </a:r>
            <a:endParaRPr lang="en-US" sz="1200" dirty="0"/>
          </a:p>
        </p:txBody>
      </p:sp>
      <p:sp>
        <p:nvSpPr>
          <p:cNvPr id="24" name="Text 22"/>
          <p:cNvSpPr/>
          <p:nvPr/>
        </p:nvSpPr>
        <p:spPr>
          <a:xfrm>
            <a:off x="7121366" y="5826547"/>
            <a:ext cx="3130868"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Requirements stay visible instead of being buried in chat history or implicit code behavior.</a:t>
            </a:r>
            <a:endParaRPr lang="en-US" sz="1200" dirty="0"/>
          </a:p>
        </p:txBody>
      </p:sp>
      <p:sp>
        <p:nvSpPr>
          <p:cNvPr id="25" name="Text 23"/>
          <p:cNvSpPr/>
          <p:nvPr/>
        </p:nvSpPr>
        <p:spPr>
          <a:xfrm>
            <a:off x="10451306" y="5663669"/>
            <a:ext cx="3193484"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Safer AI use</a:t>
            </a:r>
            <a:endParaRPr lang="en-US" sz="1200" dirty="0"/>
          </a:p>
        </p:txBody>
      </p:sp>
      <p:sp>
        <p:nvSpPr>
          <p:cNvPr id="26" name="Text 24"/>
          <p:cNvSpPr/>
          <p:nvPr/>
        </p:nvSpPr>
        <p:spPr>
          <a:xfrm>
            <a:off x="10451306" y="5826547"/>
            <a:ext cx="3130867"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The LLM gets boundaries, so it is less likely to invent features or wrong interfaces.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8"/>
        </a:solidFill>
      </p:bgPr>
    </p:bg>
    <p:spTree>
      <p:nvGrpSpPr>
        <p:cNvPr id="1" name=""/>
        <p:cNvGrpSpPr/>
        <p:nvPr/>
      </p:nvGrpSpPr>
      <p:grpSpPr>
        <a:xfrm>
          <a:off x="0" y="0"/>
          <a:ext cx="0" cy="0"/>
          <a:chOff x="0" y="0"/>
          <a:chExt cx="0" cy="0"/>
        </a:xfrm>
      </p:grpSpPr>
      <p:sp>
        <p:nvSpPr>
          <p:cNvPr id="2" name="Text 0"/>
          <p:cNvSpPr/>
          <p:nvPr/>
        </p:nvSpPr>
        <p:spPr>
          <a:xfrm>
            <a:off x="14846700" y="-642425"/>
            <a:ext cx="3081620" cy="3081619"/>
          </a:xfrm>
          <a:prstGeom prst="roundRect">
            <a:avLst>
              <a:gd name="adj" fmla="val 148364"/>
            </a:avLst>
          </a:prstGeom>
          <a:solidFill>
            <a:srgbClr val="C2410C">
              <a:alpha val="10000"/>
            </a:srgbClr>
          </a:solidFill>
          <a:ln/>
        </p:spPr>
        <p:txBody>
          <a:bodyPr wrap="none" lIns="0" tIns="0" rIns="0" bIns="0" rtlCol="0" anchor="ctr">
            <a:normAutofit/>
          </a:bodyPr>
          <a:lstStyle/>
          <a:p>
            <a:pPr indent="0" marL="0">
              <a:buNone/>
            </a:pPr>
            <a:endParaRPr lang="en-US" dirty="0"/>
          </a:p>
        </p:txBody>
      </p:sp>
      <p:sp>
        <p:nvSpPr>
          <p:cNvPr id="3" name="Text 1"/>
          <p:cNvSpPr/>
          <p:nvPr/>
        </p:nvSpPr>
        <p:spPr>
          <a:xfrm>
            <a:off x="-456107" y="7868449"/>
            <a:ext cx="2355310" cy="2355311"/>
          </a:xfrm>
          <a:prstGeom prst="roundRect">
            <a:avLst>
              <a:gd name="adj" fmla="val 194115"/>
            </a:avLst>
          </a:prstGeom>
          <a:solidFill>
            <a:srgbClr val="1E293B">
              <a:alpha val="8000"/>
            </a:srgbClr>
          </a:solidFill>
          <a:ln/>
        </p:spPr>
        <p:txBody>
          <a:bodyPr wrap="none" lIns="0" tIns="0" rIns="0" bIns="0" rtlCol="0" anchor="ctr">
            <a:normAutofit/>
          </a:bodyPr>
          <a:lstStyle/>
          <a:p>
            <a:pPr indent="0" marL="0">
              <a:buNone/>
            </a:pPr>
            <a:endParaRPr lang="en-US" dirty="0"/>
          </a:p>
        </p:txBody>
      </p:sp>
      <p:sp>
        <p:nvSpPr>
          <p:cNvPr id="4" name="Text 2"/>
          <p:cNvSpPr/>
          <p:nvPr/>
        </p:nvSpPr>
        <p:spPr>
          <a:xfrm>
            <a:off x="3782378" y="4854089"/>
            <a:ext cx="4795837" cy="1166724"/>
          </a:xfrm>
          <a:prstGeom prst="roundRect">
            <a:avLst>
              <a:gd name="adj" fmla="val 172421"/>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3791426" y="4863137"/>
            <a:ext cx="1138587" cy="207556"/>
          </a:xfrm>
          <a:prstGeom prst="roundRect">
            <a:avLst>
              <a:gd name="adj" fmla="val 44011525"/>
            </a:avLst>
          </a:prstGeom>
          <a:solidFill>
            <a:srgbClr val="C2410C">
              <a:alpha val="10000"/>
            </a:srgbClr>
          </a:solidFill>
          <a:ln/>
        </p:spPr>
        <p:txBody>
          <a:bodyPr wrap="square" lIns="109728" tIns="109728" rIns="109728" bIns="109728" rtlCol="0" anchor="t">
            <a:normAutofit/>
          </a:bodyPr>
          <a:lstStyle/>
          <a:p>
            <a:pPr algn="l" indent="0" marL="0">
              <a:buNone/>
            </a:pPr>
            <a:r>
              <a:rPr lang="en-US" sz="912" b="1" dirty="0">
                <a:solidFill>
                  <a:srgbClr val="1E293B"/>
                </a:solidFill>
                <a:latin typeface="Times" pitchFamily="34" charset="0"/>
                <a:ea typeface="Times" pitchFamily="34" charset="-122"/>
                <a:cs typeface="Times" pitchFamily="34" charset="-120"/>
              </a:rPr>
              <a:t>Iterative prompting</a:t>
            </a:r>
            <a:endParaRPr lang="en-US" sz="912" dirty="0"/>
          </a:p>
        </p:txBody>
      </p:sp>
      <p:sp>
        <p:nvSpPr>
          <p:cNvPr id="6" name="Text 4"/>
          <p:cNvSpPr/>
          <p:nvPr/>
        </p:nvSpPr>
        <p:spPr>
          <a:xfrm>
            <a:off x="8795385" y="4854089"/>
            <a:ext cx="4795838" cy="1166724"/>
          </a:xfrm>
          <a:prstGeom prst="roundRect">
            <a:avLst>
              <a:gd name="adj" fmla="val 172421"/>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7" name="Text 5"/>
          <p:cNvSpPr/>
          <p:nvPr/>
        </p:nvSpPr>
        <p:spPr>
          <a:xfrm>
            <a:off x="8804434" y="4863137"/>
            <a:ext cx="1397325" cy="207556"/>
          </a:xfrm>
          <a:prstGeom prst="roundRect">
            <a:avLst>
              <a:gd name="adj" fmla="val 44011525"/>
            </a:avLst>
          </a:prstGeom>
          <a:solidFill>
            <a:srgbClr val="C2410C">
              <a:alpha val="10000"/>
            </a:srgbClr>
          </a:solidFill>
          <a:ln/>
        </p:spPr>
        <p:txBody>
          <a:bodyPr wrap="square" lIns="109728" tIns="109728" rIns="109728" bIns="109728" rtlCol="0" anchor="t">
            <a:normAutofit/>
          </a:bodyPr>
          <a:lstStyle/>
          <a:p>
            <a:pPr algn="l" indent="0" marL="0">
              <a:buNone/>
            </a:pPr>
            <a:r>
              <a:rPr lang="en-US" sz="912" b="1" dirty="0">
                <a:solidFill>
                  <a:srgbClr val="1E293B"/>
                </a:solidFill>
                <a:latin typeface="Times" pitchFamily="34" charset="0"/>
                <a:ea typeface="Times" pitchFamily="34" charset="-122"/>
                <a:cs typeface="Times" pitchFamily="34" charset="-120"/>
              </a:rPr>
              <a:t>Spec-driven development</a:t>
            </a:r>
            <a:endParaRPr lang="en-US" sz="912" dirty="0"/>
          </a:p>
        </p:txBody>
      </p:sp>
      <p:sp>
        <p:nvSpPr>
          <p:cNvPr id="8" name="Text 6"/>
          <p:cNvSpPr/>
          <p:nvPr/>
        </p:nvSpPr>
        <p:spPr>
          <a:xfrm>
            <a:off x="3782378" y="4113788"/>
            <a:ext cx="10005022" cy="126683"/>
          </a:xfrm>
          <a:prstGeom prst="rect">
            <a:avLst/>
          </a:prstGeom>
          <a:noFill/>
          <a:ln/>
        </p:spPr>
        <p:txBody>
          <a:bodyPr wrap="square" lIns="0" tIns="0" rIns="0" bIns="0" rtlCol="0" anchor="t"/>
          <a:lstStyle/>
          <a:p>
            <a:pPr indent="0" marL="0">
              <a:lnSpc>
                <a:spcPts val="842"/>
              </a:lnSpc>
              <a:buNone/>
            </a:pPr>
            <a:r>
              <a:rPr lang="en-US" sz="936" b="1" dirty="0">
                <a:solidFill>
                  <a:srgbClr val="1E293B"/>
                </a:solidFill>
                <a:latin typeface="Times" pitchFamily="34" charset="0"/>
                <a:ea typeface="Times" pitchFamily="34" charset="-122"/>
                <a:cs typeface="Times" pitchFamily="34" charset="-120"/>
              </a:rPr>
              <a:t>Comparison</a:t>
            </a:r>
            <a:endParaRPr lang="en-US" sz="936" dirty="0"/>
          </a:p>
        </p:txBody>
      </p:sp>
      <p:sp>
        <p:nvSpPr>
          <p:cNvPr id="9" name="Text 7"/>
          <p:cNvSpPr/>
          <p:nvPr/>
        </p:nvSpPr>
        <p:spPr>
          <a:xfrm>
            <a:off x="3782378" y="4420597"/>
            <a:ext cx="10005022" cy="253365"/>
          </a:xfrm>
          <a:prstGeom prst="rect">
            <a:avLst/>
          </a:prstGeom>
          <a:noFill/>
          <a:ln/>
        </p:spPr>
        <p:txBody>
          <a:bodyPr wrap="square" lIns="0" tIns="0" rIns="0" bIns="0" rtlCol="0" anchor="t"/>
          <a:lstStyle/>
          <a:p>
            <a:pPr indent="0" marL="0">
              <a:lnSpc>
                <a:spcPts val="1620"/>
              </a:lnSpc>
              <a:buNone/>
            </a:pPr>
            <a:r>
              <a:rPr lang="en-US" sz="1800" b="1" dirty="0">
                <a:solidFill>
                  <a:srgbClr val="1E293B"/>
                </a:solidFill>
                <a:latin typeface="Times" pitchFamily="34" charset="0"/>
                <a:ea typeface="Times" pitchFamily="34" charset="-122"/>
                <a:cs typeface="Times" pitchFamily="34" charset="-120"/>
              </a:rPr>
              <a:t>Why use it instead of only iterative prompting</a:t>
            </a:r>
            <a:endParaRPr lang="en-US" sz="1800" dirty="0"/>
          </a:p>
        </p:txBody>
      </p:sp>
      <p:sp>
        <p:nvSpPr>
          <p:cNvPr id="10" name="Text 8"/>
          <p:cNvSpPr/>
          <p:nvPr/>
        </p:nvSpPr>
        <p:spPr>
          <a:xfrm>
            <a:off x="3791426" y="5215473"/>
            <a:ext cx="4777740" cy="651510"/>
          </a:xfrm>
          <a:prstGeom prst="rect">
            <a:avLst/>
          </a:prstGeom>
          <a:noFill/>
          <a:ln/>
        </p:spPr>
        <p:txBody>
          <a:bodyPr wrap="square" lIns="0" tIns="0" rIns="0" bIns="0" rtlCol="0" anchor="t"/>
          <a:lstStyle/>
          <a:p>
            <a:pPr marL="342900" indent="-342900">
              <a:lnSpc>
                <a:spcPts val="1080"/>
              </a:lnSpc>
              <a:buSzPct val="100000"/>
              <a:buChar char="•"/>
            </a:pPr>
            <a:r>
              <a:rPr lang="en-US" sz="1200" dirty="0">
                <a:solidFill>
                  <a:srgbClr val="1E293B"/>
                </a:solidFill>
                <a:latin typeface="Times" pitchFamily="34" charset="0"/>
                <a:ea typeface="Times" pitchFamily="34" charset="-122"/>
                <a:cs typeface="Times" pitchFamily="34" charset="-120"/>
              </a:rPr>
              <a:t>Starts with a rough request and refines output through repeated correction.</a:t>
            </a:r>
            <a:endParaRPr lang="en-US" sz="1200" dirty="0"/>
          </a:p>
          <a:p>
            <a:pPr marL="342900" indent="-342900">
              <a:lnSpc>
                <a:spcPts val="1080"/>
              </a:lnSpc>
              <a:buSzPct val="100000"/>
              <a:buChar char="•"/>
            </a:pPr>
            <a:r>
              <a:rPr lang="en-US" sz="1200" dirty="0">
                <a:solidFill>
                  <a:srgbClr val="1E293B"/>
                </a:solidFill>
                <a:latin typeface="Times" pitchFamily="34" charset="0"/>
                <a:ea typeface="Times" pitchFamily="34" charset="-122"/>
                <a:cs typeface="Times" pitchFamily="34" charset="-120"/>
              </a:rPr>
              <a:t>Often hides requirements inside chat context and ad hoc instructions.</a:t>
            </a:r>
            <a:endParaRPr lang="en-US" sz="1200" dirty="0"/>
          </a:p>
          <a:p>
            <a:pPr marL="342900" indent="-342900">
              <a:lnSpc>
                <a:spcPts val="1080"/>
              </a:lnSpc>
              <a:buSzPct val="100000"/>
              <a:buChar char="•"/>
            </a:pPr>
            <a:r>
              <a:rPr lang="en-US" sz="1200" dirty="0">
                <a:solidFill>
                  <a:srgbClr val="1E293B"/>
                </a:solidFill>
                <a:latin typeface="Times" pitchFamily="34" charset="0"/>
                <a:ea typeface="Times" pitchFamily="34" charset="-122"/>
                <a:cs typeface="Times" pitchFamily="34" charset="-120"/>
              </a:rPr>
              <a:t>Works well for small or exploratory tasks.</a:t>
            </a:r>
            <a:endParaRPr lang="en-US" sz="1200" dirty="0"/>
          </a:p>
          <a:p>
            <a:pPr marL="342900" indent="-342900">
              <a:lnSpc>
                <a:spcPts val="1080"/>
              </a:lnSpc>
              <a:buSzPct val="100000"/>
              <a:buChar char="•"/>
            </a:pPr>
            <a:r>
              <a:rPr lang="en-US" sz="1200" dirty="0">
                <a:solidFill>
                  <a:srgbClr val="1E293B"/>
                </a:solidFill>
                <a:latin typeface="Times" pitchFamily="34" charset="0"/>
                <a:ea typeface="Times" pitchFamily="34" charset="-122"/>
                <a:cs typeface="Times" pitchFamily="34" charset="-120"/>
              </a:rPr>
              <a:t>Tends to drift when many requirements and edge cases accumulate.</a:t>
            </a:r>
            <a:endParaRPr lang="en-US" sz="1200" dirty="0"/>
          </a:p>
        </p:txBody>
      </p:sp>
      <p:sp>
        <p:nvSpPr>
          <p:cNvPr id="11" name="Text 9"/>
          <p:cNvSpPr/>
          <p:nvPr/>
        </p:nvSpPr>
        <p:spPr>
          <a:xfrm>
            <a:off x="8804434" y="5215473"/>
            <a:ext cx="4777740" cy="651510"/>
          </a:xfrm>
          <a:prstGeom prst="rect">
            <a:avLst/>
          </a:prstGeom>
          <a:noFill/>
          <a:ln/>
        </p:spPr>
        <p:txBody>
          <a:bodyPr wrap="square" lIns="0" tIns="0" rIns="0" bIns="0" rtlCol="0" anchor="t"/>
          <a:lstStyle/>
          <a:p>
            <a:pPr marL="342900" indent="-342900">
              <a:lnSpc>
                <a:spcPts val="1080"/>
              </a:lnSpc>
              <a:buSzPct val="100000"/>
              <a:buChar char="•"/>
            </a:pPr>
            <a:r>
              <a:rPr lang="en-US" sz="1200" dirty="0">
                <a:solidFill>
                  <a:srgbClr val="1E293B"/>
                </a:solidFill>
                <a:latin typeface="Times" pitchFamily="34" charset="0"/>
                <a:ea typeface="Times" pitchFamily="34" charset="-122"/>
                <a:cs typeface="Times" pitchFamily="34" charset="-120"/>
              </a:rPr>
              <a:t>Externalizes requirements into a durable, reviewable artifact.</a:t>
            </a:r>
            <a:endParaRPr lang="en-US" sz="1200" dirty="0"/>
          </a:p>
          <a:p>
            <a:pPr marL="342900" indent="-342900">
              <a:lnSpc>
                <a:spcPts val="1080"/>
              </a:lnSpc>
              <a:buSzPct val="100000"/>
              <a:buChar char="•"/>
            </a:pPr>
            <a:r>
              <a:rPr lang="en-US" sz="1200" dirty="0">
                <a:solidFill>
                  <a:srgbClr val="1E293B"/>
                </a:solidFill>
                <a:latin typeface="Times" pitchFamily="34" charset="0"/>
                <a:ea typeface="Times" pitchFamily="34" charset="-122"/>
                <a:cs typeface="Times" pitchFamily="34" charset="-120"/>
              </a:rPr>
              <a:t>Makes the LLM implement against a contract rather than a conversation.</a:t>
            </a:r>
            <a:endParaRPr lang="en-US" sz="1200" dirty="0"/>
          </a:p>
          <a:p>
            <a:pPr marL="342900" indent="-342900">
              <a:lnSpc>
                <a:spcPts val="1080"/>
              </a:lnSpc>
              <a:buSzPct val="100000"/>
              <a:buChar char="•"/>
            </a:pPr>
            <a:r>
              <a:rPr lang="en-US" sz="1200" dirty="0">
                <a:solidFill>
                  <a:srgbClr val="1E293B"/>
                </a:solidFill>
                <a:latin typeface="Times" pitchFamily="34" charset="0"/>
                <a:ea typeface="Times" pitchFamily="34" charset="-122"/>
                <a:cs typeface="Times" pitchFamily="34" charset="-120"/>
              </a:rPr>
              <a:t>Supports repeatability, traceability, and easier handoff.</a:t>
            </a:r>
            <a:endParaRPr lang="en-US" sz="1200" dirty="0"/>
          </a:p>
          <a:p>
            <a:pPr marL="342900" indent="-342900">
              <a:lnSpc>
                <a:spcPts val="1080"/>
              </a:lnSpc>
              <a:buSzPct val="100000"/>
              <a:buChar char="•"/>
            </a:pPr>
            <a:r>
              <a:rPr lang="en-US" sz="1200" dirty="0">
                <a:solidFill>
                  <a:srgbClr val="1E293B"/>
                </a:solidFill>
                <a:latin typeface="Times" pitchFamily="34" charset="0"/>
                <a:ea typeface="Times" pitchFamily="34" charset="-122"/>
                <a:cs typeface="Times" pitchFamily="34" charset="-120"/>
              </a:rPr>
              <a:t>Scales better when multiple people or multiple components are involved.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CF8"/>
        </a:solidFill>
      </p:bgPr>
    </p:bg>
    <p:spTree>
      <p:nvGrpSpPr>
        <p:cNvPr id="1" name=""/>
        <p:cNvGrpSpPr/>
        <p:nvPr/>
      </p:nvGrpSpPr>
      <p:grpSpPr>
        <a:xfrm>
          <a:off x="0" y="0"/>
          <a:ext cx="0" cy="0"/>
          <a:chOff x="0" y="0"/>
          <a:chExt cx="0" cy="0"/>
        </a:xfrm>
      </p:grpSpPr>
      <p:sp>
        <p:nvSpPr>
          <p:cNvPr id="2" name="Text 0"/>
          <p:cNvSpPr/>
          <p:nvPr/>
        </p:nvSpPr>
        <p:spPr>
          <a:xfrm>
            <a:off x="14846552" y="-733061"/>
            <a:ext cx="3262890" cy="3262891"/>
          </a:xfrm>
          <a:prstGeom prst="roundRect">
            <a:avLst>
              <a:gd name="adj" fmla="val 140121"/>
            </a:avLst>
          </a:prstGeom>
          <a:solidFill>
            <a:srgbClr val="65713A">
              <a:alpha val="11000"/>
            </a:srgbClr>
          </a:solidFill>
          <a:ln/>
        </p:spPr>
        <p:txBody>
          <a:bodyPr wrap="none" lIns="0" tIns="0" rIns="0" bIns="0" rtlCol="0" anchor="ctr">
            <a:normAutofit/>
          </a:bodyPr>
          <a:lstStyle/>
          <a:p>
            <a:pPr indent="0" marL="0">
              <a:buNone/>
            </a:pPr>
            <a:endParaRPr lang="en-US" dirty="0"/>
          </a:p>
        </p:txBody>
      </p:sp>
      <p:sp>
        <p:nvSpPr>
          <p:cNvPr id="3" name="Text 1"/>
          <p:cNvSpPr/>
          <p:nvPr/>
        </p:nvSpPr>
        <p:spPr>
          <a:xfrm>
            <a:off x="-456107" y="7868449"/>
            <a:ext cx="2355310" cy="2355311"/>
          </a:xfrm>
          <a:prstGeom prst="roundRect">
            <a:avLst>
              <a:gd name="adj" fmla="val 194115"/>
            </a:avLst>
          </a:prstGeom>
          <a:solidFill>
            <a:srgbClr val="C2410C">
              <a:alpha val="9000"/>
            </a:srgbClr>
          </a:solidFill>
          <a:ln/>
        </p:spPr>
        <p:txBody>
          <a:bodyPr wrap="none" lIns="0" tIns="0" rIns="0" bIns="0" rtlCol="0" anchor="ctr">
            <a:normAutofit/>
          </a:bodyPr>
          <a:lstStyle/>
          <a:p>
            <a:pPr indent="0" marL="0">
              <a:buNone/>
            </a:pPr>
            <a:endParaRPr lang="en-US" dirty="0"/>
          </a:p>
        </p:txBody>
      </p:sp>
      <p:sp>
        <p:nvSpPr>
          <p:cNvPr id="4" name="Text 2"/>
          <p:cNvSpPr/>
          <p:nvPr/>
        </p:nvSpPr>
        <p:spPr>
          <a:xfrm>
            <a:off x="3782378" y="4758794"/>
            <a:ext cx="3148965" cy="723899"/>
          </a:xfrm>
          <a:prstGeom prst="roundRect">
            <a:avLst>
              <a:gd name="adj" fmla="val 27789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7112318" y="4758794"/>
            <a:ext cx="3148964" cy="723899"/>
          </a:xfrm>
          <a:prstGeom prst="roundRect">
            <a:avLst>
              <a:gd name="adj" fmla="val 27789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6" name="Text 4"/>
          <p:cNvSpPr/>
          <p:nvPr/>
        </p:nvSpPr>
        <p:spPr>
          <a:xfrm>
            <a:off x="10442257" y="4758794"/>
            <a:ext cx="3148966" cy="723899"/>
          </a:xfrm>
          <a:prstGeom prst="roundRect">
            <a:avLst>
              <a:gd name="adj" fmla="val 27789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7" name="Text 5"/>
          <p:cNvSpPr/>
          <p:nvPr/>
        </p:nvSpPr>
        <p:spPr>
          <a:xfrm>
            <a:off x="3782378" y="5482694"/>
            <a:ext cx="9808845" cy="633413"/>
          </a:xfrm>
          <a:prstGeom prst="roundRect">
            <a:avLst>
              <a:gd name="adj" fmla="val 317594"/>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8" name="Text 6"/>
          <p:cNvSpPr/>
          <p:nvPr/>
        </p:nvSpPr>
        <p:spPr>
          <a:xfrm>
            <a:off x="3782378" y="4018493"/>
            <a:ext cx="10005022" cy="126682"/>
          </a:xfrm>
          <a:prstGeom prst="rect">
            <a:avLst/>
          </a:prstGeom>
          <a:noFill/>
          <a:ln/>
        </p:spPr>
        <p:txBody>
          <a:bodyPr wrap="square" lIns="0" tIns="0" rIns="0" bIns="0" rtlCol="0" anchor="t"/>
          <a:lstStyle/>
          <a:p>
            <a:pPr indent="0" marL="0">
              <a:lnSpc>
                <a:spcPts val="842"/>
              </a:lnSpc>
              <a:buNone/>
            </a:pPr>
            <a:r>
              <a:rPr lang="en-US" sz="936" b="1" dirty="0">
                <a:solidFill>
                  <a:srgbClr val="1E293B"/>
                </a:solidFill>
                <a:latin typeface="Times" pitchFamily="34" charset="0"/>
                <a:ea typeface="Times" pitchFamily="34" charset="-122"/>
                <a:cs typeface="Times" pitchFamily="34" charset="-120"/>
              </a:rPr>
              <a:t>Mental model</a:t>
            </a:r>
            <a:endParaRPr lang="en-US" sz="936" dirty="0"/>
          </a:p>
        </p:txBody>
      </p:sp>
      <p:sp>
        <p:nvSpPr>
          <p:cNvPr id="9" name="Text 7"/>
          <p:cNvSpPr/>
          <p:nvPr/>
        </p:nvSpPr>
        <p:spPr>
          <a:xfrm>
            <a:off x="3782378" y="4325303"/>
            <a:ext cx="10005022" cy="253365"/>
          </a:xfrm>
          <a:prstGeom prst="rect">
            <a:avLst/>
          </a:prstGeom>
          <a:noFill/>
          <a:ln/>
        </p:spPr>
        <p:txBody>
          <a:bodyPr wrap="square" lIns="0" tIns="0" rIns="0" bIns="0" rtlCol="0" anchor="t"/>
          <a:lstStyle/>
          <a:p>
            <a:pPr indent="0" marL="0">
              <a:lnSpc>
                <a:spcPts val="1620"/>
              </a:lnSpc>
              <a:buNone/>
            </a:pPr>
            <a:r>
              <a:rPr lang="en-US" sz="1800" b="1" dirty="0">
                <a:solidFill>
                  <a:srgbClr val="1E293B"/>
                </a:solidFill>
                <a:latin typeface="Times" pitchFamily="34" charset="0"/>
                <a:ea typeface="Times" pitchFamily="34" charset="-122"/>
                <a:cs typeface="Times" pitchFamily="34" charset="-120"/>
              </a:rPr>
              <a:t>How to think as the user or product owner</a:t>
            </a:r>
            <a:endParaRPr lang="en-US" sz="1800" dirty="0"/>
          </a:p>
        </p:txBody>
      </p:sp>
      <p:sp>
        <p:nvSpPr>
          <p:cNvPr id="10" name="Text 8"/>
          <p:cNvSpPr/>
          <p:nvPr/>
        </p:nvSpPr>
        <p:spPr>
          <a:xfrm>
            <a:off x="3791426" y="4767843"/>
            <a:ext cx="3193485" cy="217170"/>
          </a:xfrm>
          <a:prstGeom prst="rect">
            <a:avLst/>
          </a:prstGeom>
          <a:noFill/>
          <a:ln/>
        </p:spPr>
        <p:txBody>
          <a:bodyPr wrap="square" lIns="0" tIns="0" rIns="0" bIns="0" rtlCol="0" anchor="t"/>
          <a:lstStyle/>
          <a:p>
            <a:pPr indent="0" marL="0">
              <a:lnSpc>
                <a:spcPts val="1800"/>
              </a:lnSpc>
              <a:buNone/>
            </a:pPr>
            <a:r>
              <a:rPr lang="en-US" sz="1800" dirty="0">
                <a:solidFill>
                  <a:srgbClr val="1E293B"/>
                </a:solidFill>
                <a:latin typeface="Times" pitchFamily="34" charset="0"/>
                <a:ea typeface="Times" pitchFamily="34" charset="-122"/>
                <a:cs typeface="Times" pitchFamily="34" charset="-120"/>
              </a:rPr>
              <a:t>🧩</a:t>
            </a:r>
            <a:endParaRPr lang="en-US" sz="1800" dirty="0"/>
          </a:p>
        </p:txBody>
      </p:sp>
      <p:sp>
        <p:nvSpPr>
          <p:cNvPr id="11" name="Text 9"/>
          <p:cNvSpPr/>
          <p:nvPr/>
        </p:nvSpPr>
        <p:spPr>
          <a:xfrm>
            <a:off x="3791426" y="4985013"/>
            <a:ext cx="3193485"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Describe the outcome</a:t>
            </a:r>
            <a:endParaRPr lang="en-US" sz="1200" dirty="0"/>
          </a:p>
        </p:txBody>
      </p:sp>
      <p:sp>
        <p:nvSpPr>
          <p:cNvPr id="12" name="Text 10"/>
          <p:cNvSpPr/>
          <p:nvPr/>
        </p:nvSpPr>
        <p:spPr>
          <a:xfrm>
            <a:off x="3791426" y="5147890"/>
            <a:ext cx="3130868"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State what problem should be solved and what users should be able to do.</a:t>
            </a:r>
            <a:endParaRPr lang="en-US" sz="1200" dirty="0"/>
          </a:p>
        </p:txBody>
      </p:sp>
      <p:sp>
        <p:nvSpPr>
          <p:cNvPr id="13" name="Text 11"/>
          <p:cNvSpPr/>
          <p:nvPr/>
        </p:nvSpPr>
        <p:spPr>
          <a:xfrm>
            <a:off x="7121366" y="4767843"/>
            <a:ext cx="3193485" cy="217170"/>
          </a:xfrm>
          <a:prstGeom prst="rect">
            <a:avLst/>
          </a:prstGeom>
          <a:noFill/>
          <a:ln/>
        </p:spPr>
        <p:txBody>
          <a:bodyPr wrap="square" lIns="0" tIns="0" rIns="0" bIns="0" rtlCol="0" anchor="t"/>
          <a:lstStyle/>
          <a:p>
            <a:pPr indent="0" marL="0">
              <a:lnSpc>
                <a:spcPts val="1800"/>
              </a:lnSpc>
              <a:buNone/>
            </a:pPr>
            <a:r>
              <a:rPr lang="en-US" sz="1800" dirty="0">
                <a:solidFill>
                  <a:srgbClr val="1E293B"/>
                </a:solidFill>
                <a:latin typeface="Times" pitchFamily="34" charset="0"/>
                <a:ea typeface="Times" pitchFamily="34" charset="-122"/>
                <a:cs typeface="Times" pitchFamily="34" charset="-120"/>
              </a:rPr>
              <a:t>🚧</a:t>
            </a:r>
            <a:endParaRPr lang="en-US" sz="1800" dirty="0"/>
          </a:p>
        </p:txBody>
      </p:sp>
      <p:sp>
        <p:nvSpPr>
          <p:cNvPr id="14" name="Text 12"/>
          <p:cNvSpPr/>
          <p:nvPr/>
        </p:nvSpPr>
        <p:spPr>
          <a:xfrm>
            <a:off x="7121366" y="4985013"/>
            <a:ext cx="3193485"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State the boundaries</a:t>
            </a:r>
            <a:endParaRPr lang="en-US" sz="1200" dirty="0"/>
          </a:p>
        </p:txBody>
      </p:sp>
      <p:sp>
        <p:nvSpPr>
          <p:cNvPr id="15" name="Text 13"/>
          <p:cNvSpPr/>
          <p:nvPr/>
        </p:nvSpPr>
        <p:spPr>
          <a:xfrm>
            <a:off x="7121366" y="5147890"/>
            <a:ext cx="3130868"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Call out constraints, assumptions, risks, and non-goals clearly.</a:t>
            </a:r>
            <a:endParaRPr lang="en-US" sz="1200" dirty="0"/>
          </a:p>
        </p:txBody>
      </p:sp>
      <p:sp>
        <p:nvSpPr>
          <p:cNvPr id="16" name="Text 14"/>
          <p:cNvSpPr/>
          <p:nvPr/>
        </p:nvSpPr>
        <p:spPr>
          <a:xfrm>
            <a:off x="10451306" y="4767843"/>
            <a:ext cx="3193484" cy="217170"/>
          </a:xfrm>
          <a:prstGeom prst="rect">
            <a:avLst/>
          </a:prstGeom>
          <a:noFill/>
          <a:ln/>
        </p:spPr>
        <p:txBody>
          <a:bodyPr wrap="square" lIns="0" tIns="0" rIns="0" bIns="0" rtlCol="0" anchor="t"/>
          <a:lstStyle/>
          <a:p>
            <a:pPr indent="0" marL="0">
              <a:lnSpc>
                <a:spcPts val="1800"/>
              </a:lnSpc>
              <a:buNone/>
            </a:pPr>
            <a:r>
              <a:rPr lang="en-US" sz="1800" dirty="0">
                <a:solidFill>
                  <a:srgbClr val="1E293B"/>
                </a:solidFill>
                <a:latin typeface="Times" pitchFamily="34" charset="0"/>
                <a:ea typeface="Times" pitchFamily="34" charset="-122"/>
                <a:cs typeface="Times" pitchFamily="34" charset="-120"/>
              </a:rPr>
              <a:t>✅</a:t>
            </a:r>
            <a:endParaRPr lang="en-US" sz="1800" dirty="0"/>
          </a:p>
        </p:txBody>
      </p:sp>
      <p:sp>
        <p:nvSpPr>
          <p:cNvPr id="17" name="Text 15"/>
          <p:cNvSpPr/>
          <p:nvPr/>
        </p:nvSpPr>
        <p:spPr>
          <a:xfrm>
            <a:off x="10451306" y="4985013"/>
            <a:ext cx="3193484"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Define success</a:t>
            </a:r>
            <a:endParaRPr lang="en-US" sz="1200" dirty="0"/>
          </a:p>
        </p:txBody>
      </p:sp>
      <p:sp>
        <p:nvSpPr>
          <p:cNvPr id="18" name="Text 16"/>
          <p:cNvSpPr/>
          <p:nvPr/>
        </p:nvSpPr>
        <p:spPr>
          <a:xfrm>
            <a:off x="10451306" y="5147890"/>
            <a:ext cx="3130867"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Make completion testable with explicit acceptance criteria.</a:t>
            </a:r>
            <a:endParaRPr lang="en-US" sz="1200" dirty="0"/>
          </a:p>
        </p:txBody>
      </p:sp>
      <p:sp>
        <p:nvSpPr>
          <p:cNvPr id="19" name="Text 17"/>
          <p:cNvSpPr/>
          <p:nvPr/>
        </p:nvSpPr>
        <p:spPr>
          <a:xfrm>
            <a:off x="3791426" y="5636523"/>
            <a:ext cx="9790747"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A useful framing is: act like a product manager describing a product contract. Explain what the system must do, for whom, under which conditions, and what counts as correct. Leave engineering room to decide the internal design unless that design is itself a hard constraint.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CF8"/>
        </a:solidFill>
      </p:bgPr>
    </p:bg>
    <p:spTree>
      <p:nvGrpSpPr>
        <p:cNvPr id="1" name=""/>
        <p:cNvGrpSpPr/>
        <p:nvPr/>
      </p:nvGrpSpPr>
      <p:grpSpPr>
        <a:xfrm>
          <a:off x="0" y="0"/>
          <a:ext cx="0" cy="0"/>
          <a:chOff x="0" y="0"/>
          <a:chExt cx="0" cy="0"/>
        </a:xfrm>
      </p:grpSpPr>
      <p:sp>
        <p:nvSpPr>
          <p:cNvPr id="2" name="Text 0"/>
          <p:cNvSpPr/>
          <p:nvPr/>
        </p:nvSpPr>
        <p:spPr>
          <a:xfrm>
            <a:off x="14937262" y="-642351"/>
            <a:ext cx="2990983" cy="2990983"/>
          </a:xfrm>
          <a:prstGeom prst="roundRect">
            <a:avLst>
              <a:gd name="adj" fmla="val 152859"/>
            </a:avLst>
          </a:prstGeom>
          <a:solidFill>
            <a:srgbClr val="C2410C">
              <a:alpha val="11000"/>
            </a:srgbClr>
          </a:solidFill>
          <a:ln/>
        </p:spPr>
        <p:txBody>
          <a:bodyPr wrap="none" lIns="0" tIns="0" rIns="0" bIns="0" rtlCol="0" anchor="ctr">
            <a:normAutofit/>
          </a:bodyPr>
          <a:lstStyle/>
          <a:p>
            <a:pPr indent="0" marL="0">
              <a:buNone/>
            </a:pPr>
            <a:endParaRPr lang="en-US" dirty="0"/>
          </a:p>
        </p:txBody>
      </p:sp>
      <p:sp>
        <p:nvSpPr>
          <p:cNvPr id="3" name="Text 1"/>
          <p:cNvSpPr/>
          <p:nvPr/>
        </p:nvSpPr>
        <p:spPr>
          <a:xfrm>
            <a:off x="-456056" y="8049474"/>
            <a:ext cx="2264722" cy="2264722"/>
          </a:xfrm>
          <a:prstGeom prst="roundRect">
            <a:avLst>
              <a:gd name="adj" fmla="val 201879"/>
            </a:avLst>
          </a:prstGeom>
          <a:solidFill>
            <a:srgbClr val="1E293B">
              <a:alpha val="8000"/>
            </a:srgbClr>
          </a:solidFill>
          <a:ln/>
        </p:spPr>
        <p:txBody>
          <a:bodyPr wrap="none" lIns="0" tIns="0" rIns="0" bIns="0" rtlCol="0" anchor="ctr">
            <a:normAutofit/>
          </a:bodyPr>
          <a:lstStyle/>
          <a:p>
            <a:pPr indent="0" marL="0">
              <a:buNone/>
            </a:pPr>
            <a:endParaRPr lang="en-US" dirty="0"/>
          </a:p>
        </p:txBody>
      </p:sp>
      <p:sp>
        <p:nvSpPr>
          <p:cNvPr id="4" name="Text 2"/>
          <p:cNvSpPr/>
          <p:nvPr/>
        </p:nvSpPr>
        <p:spPr>
          <a:xfrm>
            <a:off x="3782378" y="4758794"/>
            <a:ext cx="4822984" cy="506730"/>
          </a:xfrm>
          <a:prstGeom prst="roundRect">
            <a:avLst>
              <a:gd name="adj" fmla="val 396992"/>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8768239" y="4758794"/>
            <a:ext cx="4822984" cy="506730"/>
          </a:xfrm>
          <a:prstGeom prst="roundRect">
            <a:avLst>
              <a:gd name="adj" fmla="val 396992"/>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6" name="Text 4"/>
          <p:cNvSpPr/>
          <p:nvPr/>
        </p:nvSpPr>
        <p:spPr>
          <a:xfrm>
            <a:off x="3782378" y="5428402"/>
            <a:ext cx="4822984" cy="343852"/>
          </a:xfrm>
          <a:prstGeom prst="roundRect">
            <a:avLst>
              <a:gd name="adj" fmla="val 585042"/>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7" name="Text 5"/>
          <p:cNvSpPr/>
          <p:nvPr/>
        </p:nvSpPr>
        <p:spPr>
          <a:xfrm>
            <a:off x="8768239" y="5428402"/>
            <a:ext cx="4822984" cy="343852"/>
          </a:xfrm>
          <a:prstGeom prst="roundRect">
            <a:avLst>
              <a:gd name="adj" fmla="val 585042"/>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8" name="Text 6"/>
          <p:cNvSpPr/>
          <p:nvPr/>
        </p:nvSpPr>
        <p:spPr>
          <a:xfrm>
            <a:off x="3782378" y="5772254"/>
            <a:ext cx="4822984" cy="343852"/>
          </a:xfrm>
          <a:prstGeom prst="roundRect">
            <a:avLst>
              <a:gd name="adj" fmla="val 585042"/>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9" name="Text 7"/>
          <p:cNvSpPr/>
          <p:nvPr/>
        </p:nvSpPr>
        <p:spPr>
          <a:xfrm>
            <a:off x="8768239" y="5772254"/>
            <a:ext cx="4822984" cy="343852"/>
          </a:xfrm>
          <a:prstGeom prst="roundRect">
            <a:avLst>
              <a:gd name="adj" fmla="val 585042"/>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10" name="Text 8"/>
          <p:cNvSpPr/>
          <p:nvPr/>
        </p:nvSpPr>
        <p:spPr>
          <a:xfrm>
            <a:off x="3782378" y="4018493"/>
            <a:ext cx="10005022" cy="126682"/>
          </a:xfrm>
          <a:prstGeom prst="rect">
            <a:avLst/>
          </a:prstGeom>
          <a:noFill/>
          <a:ln/>
        </p:spPr>
        <p:txBody>
          <a:bodyPr wrap="square" lIns="0" tIns="0" rIns="0" bIns="0" rtlCol="0" anchor="t"/>
          <a:lstStyle/>
          <a:p>
            <a:pPr indent="0" marL="0">
              <a:lnSpc>
                <a:spcPts val="842"/>
              </a:lnSpc>
              <a:buNone/>
            </a:pPr>
            <a:r>
              <a:rPr lang="en-US" sz="936" b="1" dirty="0">
                <a:solidFill>
                  <a:srgbClr val="1E293B"/>
                </a:solidFill>
                <a:latin typeface="Times" pitchFamily="34" charset="0"/>
                <a:ea typeface="Times" pitchFamily="34" charset="-122"/>
                <a:cs typeface="Times" pitchFamily="34" charset="-120"/>
              </a:rPr>
              <a:t>Spec contents</a:t>
            </a:r>
            <a:endParaRPr lang="en-US" sz="936" dirty="0"/>
          </a:p>
        </p:txBody>
      </p:sp>
      <p:sp>
        <p:nvSpPr>
          <p:cNvPr id="11" name="Text 9"/>
          <p:cNvSpPr/>
          <p:nvPr/>
        </p:nvSpPr>
        <p:spPr>
          <a:xfrm>
            <a:off x="3782378" y="4325303"/>
            <a:ext cx="10005022" cy="253365"/>
          </a:xfrm>
          <a:prstGeom prst="rect">
            <a:avLst/>
          </a:prstGeom>
          <a:noFill/>
          <a:ln/>
        </p:spPr>
        <p:txBody>
          <a:bodyPr wrap="square" lIns="0" tIns="0" rIns="0" bIns="0" rtlCol="0" anchor="t"/>
          <a:lstStyle/>
          <a:p>
            <a:pPr indent="0" marL="0">
              <a:lnSpc>
                <a:spcPts val="1620"/>
              </a:lnSpc>
              <a:buNone/>
            </a:pPr>
            <a:r>
              <a:rPr lang="en-US" sz="1800" b="1" dirty="0">
                <a:solidFill>
                  <a:srgbClr val="1E293B"/>
                </a:solidFill>
                <a:latin typeface="Times" pitchFamily="34" charset="0"/>
                <a:ea typeface="Times" pitchFamily="34" charset="-122"/>
                <a:cs typeface="Times" pitchFamily="34" charset="-120"/>
              </a:rPr>
              <a:t>What a good spec document should include</a:t>
            </a:r>
            <a:endParaRPr lang="en-US" sz="1800" dirty="0"/>
          </a:p>
        </p:txBody>
      </p:sp>
      <p:sp>
        <p:nvSpPr>
          <p:cNvPr id="12" name="Text 10"/>
          <p:cNvSpPr/>
          <p:nvPr/>
        </p:nvSpPr>
        <p:spPr>
          <a:xfrm>
            <a:off x="3791426" y="4767843"/>
            <a:ext cx="4900984"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Problem and scope</a:t>
            </a:r>
            <a:endParaRPr lang="en-US" sz="1200" dirty="0"/>
          </a:p>
        </p:txBody>
      </p:sp>
      <p:sp>
        <p:nvSpPr>
          <p:cNvPr id="13" name="Text 11"/>
          <p:cNvSpPr/>
          <p:nvPr/>
        </p:nvSpPr>
        <p:spPr>
          <a:xfrm>
            <a:off x="3791426" y="4930721"/>
            <a:ext cx="4900984"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What is being built, why it matters, and what is in or out of scope.</a:t>
            </a:r>
            <a:endParaRPr lang="en-US" sz="1200" dirty="0"/>
          </a:p>
        </p:txBody>
      </p:sp>
      <p:sp>
        <p:nvSpPr>
          <p:cNvPr id="14" name="Text 12"/>
          <p:cNvSpPr/>
          <p:nvPr/>
        </p:nvSpPr>
        <p:spPr>
          <a:xfrm>
            <a:off x="8777288" y="4767843"/>
            <a:ext cx="4900984"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Functional requirements</a:t>
            </a:r>
            <a:endParaRPr lang="en-US" sz="1200" dirty="0"/>
          </a:p>
        </p:txBody>
      </p:sp>
      <p:sp>
        <p:nvSpPr>
          <p:cNvPr id="15" name="Text 13"/>
          <p:cNvSpPr/>
          <p:nvPr/>
        </p:nvSpPr>
        <p:spPr>
          <a:xfrm>
            <a:off x="8777288" y="4930721"/>
            <a:ext cx="4804886"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Behaviors, capabilities, workflows, and user-visible outputs the system must support.</a:t>
            </a:r>
            <a:endParaRPr lang="en-US" sz="1200" dirty="0"/>
          </a:p>
        </p:txBody>
      </p:sp>
      <p:sp>
        <p:nvSpPr>
          <p:cNvPr id="16" name="Text 14"/>
          <p:cNvSpPr/>
          <p:nvPr/>
        </p:nvSpPr>
        <p:spPr>
          <a:xfrm>
            <a:off x="3791426" y="5437450"/>
            <a:ext cx="4900984"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Interfaces and contracts</a:t>
            </a:r>
            <a:endParaRPr lang="en-US" sz="1200" dirty="0"/>
          </a:p>
        </p:txBody>
      </p:sp>
      <p:sp>
        <p:nvSpPr>
          <p:cNvPr id="17" name="Text 15"/>
          <p:cNvSpPr/>
          <p:nvPr/>
        </p:nvSpPr>
        <p:spPr>
          <a:xfrm>
            <a:off x="3791426" y="5600328"/>
            <a:ext cx="4900984"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Inputs, outputs, APIs, schemas, user actions, and expected data flow boundaries.</a:t>
            </a:r>
            <a:endParaRPr lang="en-US" sz="1200" dirty="0"/>
          </a:p>
        </p:txBody>
      </p:sp>
      <p:sp>
        <p:nvSpPr>
          <p:cNvPr id="18" name="Text 16"/>
          <p:cNvSpPr/>
          <p:nvPr/>
        </p:nvSpPr>
        <p:spPr>
          <a:xfrm>
            <a:off x="8777288" y="5437450"/>
            <a:ext cx="4900984"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Constraints</a:t>
            </a:r>
            <a:endParaRPr lang="en-US" sz="1200" dirty="0"/>
          </a:p>
        </p:txBody>
      </p:sp>
      <p:sp>
        <p:nvSpPr>
          <p:cNvPr id="19" name="Text 17"/>
          <p:cNvSpPr/>
          <p:nvPr/>
        </p:nvSpPr>
        <p:spPr>
          <a:xfrm>
            <a:off x="8777288" y="5600328"/>
            <a:ext cx="4900984"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Performance, security, compliance, reliability, platform limits, or business rules.</a:t>
            </a:r>
            <a:endParaRPr lang="en-US" sz="1200" dirty="0"/>
          </a:p>
        </p:txBody>
      </p:sp>
      <p:sp>
        <p:nvSpPr>
          <p:cNvPr id="20" name="Text 18"/>
          <p:cNvSpPr/>
          <p:nvPr/>
        </p:nvSpPr>
        <p:spPr>
          <a:xfrm>
            <a:off x="3791426" y="5781303"/>
            <a:ext cx="4900984"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Edge cases and failures</a:t>
            </a:r>
            <a:endParaRPr lang="en-US" sz="1200" dirty="0"/>
          </a:p>
        </p:txBody>
      </p:sp>
      <p:sp>
        <p:nvSpPr>
          <p:cNvPr id="21" name="Text 19"/>
          <p:cNvSpPr/>
          <p:nvPr/>
        </p:nvSpPr>
        <p:spPr>
          <a:xfrm>
            <a:off x="3791426" y="5944180"/>
            <a:ext cx="4900984"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Invalid inputs, empty states, retries, errors, fallbacks, and corner conditions.</a:t>
            </a:r>
            <a:endParaRPr lang="en-US" sz="1200" dirty="0"/>
          </a:p>
        </p:txBody>
      </p:sp>
      <p:sp>
        <p:nvSpPr>
          <p:cNvPr id="22" name="Text 20"/>
          <p:cNvSpPr/>
          <p:nvPr/>
        </p:nvSpPr>
        <p:spPr>
          <a:xfrm>
            <a:off x="8777288" y="5781303"/>
            <a:ext cx="4900984"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Acceptance criteria</a:t>
            </a:r>
            <a:endParaRPr lang="en-US" sz="1200" dirty="0"/>
          </a:p>
        </p:txBody>
      </p:sp>
      <p:sp>
        <p:nvSpPr>
          <p:cNvPr id="23" name="Text 21"/>
          <p:cNvSpPr/>
          <p:nvPr/>
        </p:nvSpPr>
        <p:spPr>
          <a:xfrm>
            <a:off x="8777288" y="5944180"/>
            <a:ext cx="4900984"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Observable checks that define what “done” means.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CF8"/>
        </a:solidFill>
      </p:bgPr>
    </p:bg>
    <p:spTree>
      <p:nvGrpSpPr>
        <p:cNvPr id="1" name=""/>
        <p:cNvGrpSpPr/>
        <p:nvPr/>
      </p:nvGrpSpPr>
      <p:grpSpPr>
        <a:xfrm>
          <a:off x="0" y="0"/>
          <a:ext cx="0" cy="0"/>
          <a:chOff x="0" y="0"/>
          <a:chExt cx="0" cy="0"/>
        </a:xfrm>
      </p:grpSpPr>
      <p:sp>
        <p:nvSpPr>
          <p:cNvPr id="2" name="Text 0"/>
          <p:cNvSpPr/>
          <p:nvPr/>
        </p:nvSpPr>
        <p:spPr>
          <a:xfrm>
            <a:off x="14846552" y="-733061"/>
            <a:ext cx="3262890" cy="3262891"/>
          </a:xfrm>
          <a:prstGeom prst="roundRect">
            <a:avLst>
              <a:gd name="adj" fmla="val 140121"/>
            </a:avLst>
          </a:prstGeom>
          <a:solidFill>
            <a:srgbClr val="1E293B">
              <a:alpha val="9000"/>
            </a:srgbClr>
          </a:solidFill>
          <a:ln/>
        </p:spPr>
        <p:txBody>
          <a:bodyPr wrap="none" lIns="0" tIns="0" rIns="0" bIns="0" rtlCol="0" anchor="ctr">
            <a:normAutofit/>
          </a:bodyPr>
          <a:lstStyle/>
          <a:p>
            <a:pPr indent="0" marL="0">
              <a:buNone/>
            </a:pPr>
            <a:endParaRPr lang="en-US" dirty="0"/>
          </a:p>
        </p:txBody>
      </p:sp>
      <p:sp>
        <p:nvSpPr>
          <p:cNvPr id="3" name="Text 1"/>
          <p:cNvSpPr/>
          <p:nvPr/>
        </p:nvSpPr>
        <p:spPr>
          <a:xfrm>
            <a:off x="-456208" y="7777860"/>
            <a:ext cx="2536488" cy="2536487"/>
          </a:xfrm>
          <a:prstGeom prst="roundRect">
            <a:avLst>
              <a:gd name="adj" fmla="val 180249"/>
            </a:avLst>
          </a:prstGeom>
          <a:solidFill>
            <a:srgbClr val="C2410C">
              <a:alpha val="10000"/>
            </a:srgbClr>
          </a:solidFill>
          <a:ln/>
        </p:spPr>
        <p:txBody>
          <a:bodyPr wrap="none" lIns="0" tIns="0" rIns="0" bIns="0" rtlCol="0" anchor="ctr">
            <a:normAutofit/>
          </a:bodyPr>
          <a:lstStyle/>
          <a:p>
            <a:pPr indent="0" marL="0">
              <a:buNone/>
            </a:pPr>
            <a:endParaRPr lang="en-US" dirty="0"/>
          </a:p>
        </p:txBody>
      </p:sp>
      <p:sp>
        <p:nvSpPr>
          <p:cNvPr id="4" name="Text 2"/>
          <p:cNvSpPr/>
          <p:nvPr/>
        </p:nvSpPr>
        <p:spPr>
          <a:xfrm>
            <a:off x="3782378" y="4763601"/>
            <a:ext cx="3148965" cy="714286"/>
          </a:xfrm>
          <a:prstGeom prst="roundRect">
            <a:avLst>
              <a:gd name="adj" fmla="val 28163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3791426" y="4772650"/>
            <a:ext cx="263545" cy="207556"/>
          </a:xfrm>
          <a:prstGeom prst="roundRect">
            <a:avLst>
              <a:gd name="adj" fmla="val 44011525"/>
            </a:avLst>
          </a:prstGeom>
          <a:solidFill>
            <a:srgbClr val="C2410C">
              <a:alpha val="10000"/>
            </a:srgbClr>
          </a:solidFill>
          <a:ln/>
        </p:spPr>
        <p:txBody>
          <a:bodyPr wrap="square" lIns="109728" tIns="109728" rIns="109728" bIns="109728" rtlCol="0" anchor="t">
            <a:normAutofit/>
          </a:bodyPr>
          <a:lstStyle/>
          <a:p>
            <a:pPr algn="l" indent="0" marL="0">
              <a:buNone/>
            </a:pPr>
            <a:r>
              <a:rPr lang="en-US" sz="912" b="1" dirty="0">
                <a:solidFill>
                  <a:srgbClr val="1E293B"/>
                </a:solidFill>
                <a:latin typeface="Times" pitchFamily="34" charset="0"/>
                <a:ea typeface="Times" pitchFamily="34" charset="-122"/>
                <a:cs typeface="Times" pitchFamily="34" charset="-120"/>
              </a:rPr>
              <a:t>1</a:t>
            </a:r>
            <a:endParaRPr lang="en-US" sz="912" dirty="0"/>
          </a:p>
        </p:txBody>
      </p:sp>
      <p:sp>
        <p:nvSpPr>
          <p:cNvPr id="6" name="Text 4"/>
          <p:cNvSpPr/>
          <p:nvPr/>
        </p:nvSpPr>
        <p:spPr>
          <a:xfrm>
            <a:off x="7112318" y="4763601"/>
            <a:ext cx="3148964" cy="714286"/>
          </a:xfrm>
          <a:prstGeom prst="roundRect">
            <a:avLst>
              <a:gd name="adj" fmla="val 28163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7" name="Text 5"/>
          <p:cNvSpPr/>
          <p:nvPr/>
        </p:nvSpPr>
        <p:spPr>
          <a:xfrm>
            <a:off x="7121366" y="4772650"/>
            <a:ext cx="263545" cy="207556"/>
          </a:xfrm>
          <a:prstGeom prst="roundRect">
            <a:avLst>
              <a:gd name="adj" fmla="val 44011525"/>
            </a:avLst>
          </a:prstGeom>
          <a:solidFill>
            <a:srgbClr val="C2410C">
              <a:alpha val="10000"/>
            </a:srgbClr>
          </a:solidFill>
          <a:ln/>
        </p:spPr>
        <p:txBody>
          <a:bodyPr wrap="square" lIns="109728" tIns="109728" rIns="109728" bIns="109728" rtlCol="0" anchor="t">
            <a:normAutofit/>
          </a:bodyPr>
          <a:lstStyle/>
          <a:p>
            <a:pPr algn="l" indent="0" marL="0">
              <a:buNone/>
            </a:pPr>
            <a:r>
              <a:rPr lang="en-US" sz="912" b="1" dirty="0">
                <a:solidFill>
                  <a:srgbClr val="1E293B"/>
                </a:solidFill>
                <a:latin typeface="Times" pitchFamily="34" charset="0"/>
                <a:ea typeface="Times" pitchFamily="34" charset="-122"/>
                <a:cs typeface="Times" pitchFamily="34" charset="-120"/>
              </a:rPr>
              <a:t>2</a:t>
            </a:r>
            <a:endParaRPr lang="en-US" sz="912" dirty="0"/>
          </a:p>
        </p:txBody>
      </p:sp>
      <p:sp>
        <p:nvSpPr>
          <p:cNvPr id="8" name="Text 6"/>
          <p:cNvSpPr/>
          <p:nvPr/>
        </p:nvSpPr>
        <p:spPr>
          <a:xfrm>
            <a:off x="10442257" y="4763601"/>
            <a:ext cx="3148966" cy="714286"/>
          </a:xfrm>
          <a:prstGeom prst="roundRect">
            <a:avLst>
              <a:gd name="adj" fmla="val 28163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9" name="Text 7"/>
          <p:cNvSpPr/>
          <p:nvPr/>
        </p:nvSpPr>
        <p:spPr>
          <a:xfrm>
            <a:off x="10451306" y="4772650"/>
            <a:ext cx="263544" cy="207556"/>
          </a:xfrm>
          <a:prstGeom prst="roundRect">
            <a:avLst>
              <a:gd name="adj" fmla="val 44011525"/>
            </a:avLst>
          </a:prstGeom>
          <a:solidFill>
            <a:srgbClr val="C2410C">
              <a:alpha val="10000"/>
            </a:srgbClr>
          </a:solidFill>
          <a:ln/>
        </p:spPr>
        <p:txBody>
          <a:bodyPr wrap="square" lIns="109728" tIns="109728" rIns="109728" bIns="109728" rtlCol="0" anchor="t">
            <a:normAutofit/>
          </a:bodyPr>
          <a:lstStyle/>
          <a:p>
            <a:pPr algn="l" indent="0" marL="0">
              <a:buNone/>
            </a:pPr>
            <a:r>
              <a:rPr lang="en-US" sz="912" b="1" dirty="0">
                <a:solidFill>
                  <a:srgbClr val="1E293B"/>
                </a:solidFill>
                <a:latin typeface="Times" pitchFamily="34" charset="0"/>
                <a:ea typeface="Times" pitchFamily="34" charset="-122"/>
                <a:cs typeface="Times" pitchFamily="34" charset="-120"/>
              </a:rPr>
              <a:t>3</a:t>
            </a:r>
            <a:endParaRPr lang="en-US" sz="912" dirty="0"/>
          </a:p>
        </p:txBody>
      </p:sp>
      <p:sp>
        <p:nvSpPr>
          <p:cNvPr id="10" name="Text 8"/>
          <p:cNvSpPr/>
          <p:nvPr/>
        </p:nvSpPr>
        <p:spPr>
          <a:xfrm>
            <a:off x="3782378" y="5477887"/>
            <a:ext cx="9808845" cy="633413"/>
          </a:xfrm>
          <a:prstGeom prst="roundRect">
            <a:avLst>
              <a:gd name="adj" fmla="val 317594"/>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11" name="Text 9"/>
          <p:cNvSpPr/>
          <p:nvPr/>
        </p:nvSpPr>
        <p:spPr>
          <a:xfrm>
            <a:off x="3782378" y="4023300"/>
            <a:ext cx="10005022" cy="126683"/>
          </a:xfrm>
          <a:prstGeom prst="rect">
            <a:avLst/>
          </a:prstGeom>
          <a:noFill/>
          <a:ln/>
        </p:spPr>
        <p:txBody>
          <a:bodyPr wrap="square" lIns="0" tIns="0" rIns="0" bIns="0" rtlCol="0" anchor="t"/>
          <a:lstStyle/>
          <a:p>
            <a:pPr indent="0" marL="0">
              <a:lnSpc>
                <a:spcPts val="842"/>
              </a:lnSpc>
              <a:buNone/>
            </a:pPr>
            <a:r>
              <a:rPr lang="en-US" sz="936" b="1" dirty="0">
                <a:solidFill>
                  <a:srgbClr val="1E293B"/>
                </a:solidFill>
                <a:latin typeface="Times" pitchFamily="34" charset="0"/>
                <a:ea typeface="Times" pitchFamily="34" charset="-122"/>
                <a:cs typeface="Times" pitchFamily="34" charset="-120"/>
              </a:rPr>
              <a:t>Writing pattern</a:t>
            </a:r>
            <a:endParaRPr lang="en-US" sz="936" dirty="0"/>
          </a:p>
        </p:txBody>
      </p:sp>
      <p:sp>
        <p:nvSpPr>
          <p:cNvPr id="12" name="Text 10"/>
          <p:cNvSpPr/>
          <p:nvPr/>
        </p:nvSpPr>
        <p:spPr>
          <a:xfrm>
            <a:off x="3782378" y="4330110"/>
            <a:ext cx="10005022" cy="253365"/>
          </a:xfrm>
          <a:prstGeom prst="rect">
            <a:avLst/>
          </a:prstGeom>
          <a:noFill/>
          <a:ln/>
        </p:spPr>
        <p:txBody>
          <a:bodyPr wrap="square" lIns="0" tIns="0" rIns="0" bIns="0" rtlCol="0" anchor="t"/>
          <a:lstStyle/>
          <a:p>
            <a:pPr indent="0" marL="0">
              <a:lnSpc>
                <a:spcPts val="1620"/>
              </a:lnSpc>
              <a:buNone/>
            </a:pPr>
            <a:r>
              <a:rPr lang="en-US" sz="1800" b="1" dirty="0">
                <a:solidFill>
                  <a:srgbClr val="1E293B"/>
                </a:solidFill>
                <a:latin typeface="Times" pitchFamily="34" charset="0"/>
                <a:ea typeface="Times" pitchFamily="34" charset="-122"/>
                <a:cs typeface="Times" pitchFamily="34" charset="-120"/>
              </a:rPr>
              <a:t>A simple template for writing specs</a:t>
            </a:r>
            <a:endParaRPr lang="en-US" sz="1800" dirty="0"/>
          </a:p>
        </p:txBody>
      </p:sp>
      <p:sp>
        <p:nvSpPr>
          <p:cNvPr id="13" name="Text 11"/>
          <p:cNvSpPr/>
          <p:nvPr/>
        </p:nvSpPr>
        <p:spPr>
          <a:xfrm>
            <a:off x="3791426" y="4980206"/>
            <a:ext cx="3193485"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Context</a:t>
            </a:r>
            <a:endParaRPr lang="en-US" sz="1200" dirty="0"/>
          </a:p>
        </p:txBody>
      </p:sp>
      <p:sp>
        <p:nvSpPr>
          <p:cNvPr id="14" name="Text 12"/>
          <p:cNvSpPr/>
          <p:nvPr/>
        </p:nvSpPr>
        <p:spPr>
          <a:xfrm>
            <a:off x="3791426" y="5143083"/>
            <a:ext cx="3193485"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Problem statement, user need, and scope.</a:t>
            </a:r>
            <a:endParaRPr lang="en-US" sz="1200" dirty="0"/>
          </a:p>
        </p:txBody>
      </p:sp>
      <p:sp>
        <p:nvSpPr>
          <p:cNvPr id="15" name="Text 13"/>
          <p:cNvSpPr/>
          <p:nvPr/>
        </p:nvSpPr>
        <p:spPr>
          <a:xfrm>
            <a:off x="7121366" y="4980206"/>
            <a:ext cx="3193485"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Requirements</a:t>
            </a:r>
            <a:endParaRPr lang="en-US" sz="1200" dirty="0"/>
          </a:p>
        </p:txBody>
      </p:sp>
      <p:sp>
        <p:nvSpPr>
          <p:cNvPr id="16" name="Text 14"/>
          <p:cNvSpPr/>
          <p:nvPr/>
        </p:nvSpPr>
        <p:spPr>
          <a:xfrm>
            <a:off x="7121366" y="5143083"/>
            <a:ext cx="3130868"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Functional requirements, interfaces, rules, constraints, and edge cases.</a:t>
            </a:r>
            <a:endParaRPr lang="en-US" sz="1200" dirty="0"/>
          </a:p>
        </p:txBody>
      </p:sp>
      <p:sp>
        <p:nvSpPr>
          <p:cNvPr id="17" name="Text 15"/>
          <p:cNvSpPr/>
          <p:nvPr/>
        </p:nvSpPr>
        <p:spPr>
          <a:xfrm>
            <a:off x="10451306" y="4980206"/>
            <a:ext cx="3193484"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Validation</a:t>
            </a:r>
            <a:endParaRPr lang="en-US" sz="1200" dirty="0"/>
          </a:p>
        </p:txBody>
      </p:sp>
      <p:sp>
        <p:nvSpPr>
          <p:cNvPr id="18" name="Text 16"/>
          <p:cNvSpPr/>
          <p:nvPr/>
        </p:nvSpPr>
        <p:spPr>
          <a:xfrm>
            <a:off x="10451306" y="5143083"/>
            <a:ext cx="3130867"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Acceptance criteria, examples, and testable completion conditions.</a:t>
            </a:r>
            <a:endParaRPr lang="en-US" sz="1200" dirty="0"/>
          </a:p>
        </p:txBody>
      </p:sp>
      <p:sp>
        <p:nvSpPr>
          <p:cNvPr id="19" name="Text 17"/>
          <p:cNvSpPr/>
          <p:nvPr/>
        </p:nvSpPr>
        <p:spPr>
          <a:xfrm>
            <a:off x="3791426" y="5631716"/>
            <a:ext cx="9790747"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A good spec is detailed enough that another engineer, team, or LLM can implement it with minimal guesswork, but not so prescriptive that it hard-codes the engineering solution unnecessarily.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CF8"/>
        </a:solidFill>
      </p:bgPr>
    </p:bg>
    <p:spTree>
      <p:nvGrpSpPr>
        <p:cNvPr id="1" name=""/>
        <p:cNvGrpSpPr/>
        <p:nvPr/>
      </p:nvGrpSpPr>
      <p:grpSpPr>
        <a:xfrm>
          <a:off x="0" y="0"/>
          <a:ext cx="0" cy="0"/>
          <a:chOff x="0" y="0"/>
          <a:chExt cx="0" cy="0"/>
        </a:xfrm>
      </p:grpSpPr>
      <p:sp>
        <p:nvSpPr>
          <p:cNvPr id="2" name="Text 0"/>
          <p:cNvSpPr/>
          <p:nvPr/>
        </p:nvSpPr>
        <p:spPr>
          <a:xfrm>
            <a:off x="14846700" y="-642425"/>
            <a:ext cx="3081620" cy="3081619"/>
          </a:xfrm>
          <a:prstGeom prst="roundRect">
            <a:avLst>
              <a:gd name="adj" fmla="val 148364"/>
            </a:avLst>
          </a:prstGeom>
          <a:solidFill>
            <a:srgbClr val="C2410C">
              <a:alpha val="10000"/>
            </a:srgbClr>
          </a:solidFill>
          <a:ln/>
        </p:spPr>
        <p:txBody>
          <a:bodyPr wrap="none" lIns="0" tIns="0" rIns="0" bIns="0" rtlCol="0" anchor="ctr">
            <a:normAutofit/>
          </a:bodyPr>
          <a:lstStyle/>
          <a:p>
            <a:pPr indent="0" marL="0">
              <a:buNone/>
            </a:pPr>
            <a:endParaRPr lang="en-US" dirty="0"/>
          </a:p>
        </p:txBody>
      </p:sp>
      <p:sp>
        <p:nvSpPr>
          <p:cNvPr id="3" name="Text 1"/>
          <p:cNvSpPr/>
          <p:nvPr/>
        </p:nvSpPr>
        <p:spPr>
          <a:xfrm>
            <a:off x="-456107" y="7868449"/>
            <a:ext cx="2355310" cy="2355311"/>
          </a:xfrm>
          <a:prstGeom prst="roundRect">
            <a:avLst>
              <a:gd name="adj" fmla="val 194115"/>
            </a:avLst>
          </a:prstGeom>
          <a:solidFill>
            <a:srgbClr val="65713A">
              <a:alpha val="10000"/>
            </a:srgbClr>
          </a:solidFill>
          <a:ln/>
        </p:spPr>
        <p:txBody>
          <a:bodyPr wrap="none" lIns="0" tIns="0" rIns="0" bIns="0" rtlCol="0" anchor="ctr">
            <a:normAutofit/>
          </a:bodyPr>
          <a:lstStyle/>
          <a:p>
            <a:pPr indent="0" marL="0">
              <a:buNone/>
            </a:pPr>
            <a:endParaRPr lang="en-US" dirty="0"/>
          </a:p>
        </p:txBody>
      </p:sp>
      <p:sp>
        <p:nvSpPr>
          <p:cNvPr id="4" name="Text 2"/>
          <p:cNvSpPr/>
          <p:nvPr/>
        </p:nvSpPr>
        <p:spPr>
          <a:xfrm>
            <a:off x="3782378" y="4930721"/>
            <a:ext cx="4822984" cy="506730"/>
          </a:xfrm>
          <a:prstGeom prst="roundRect">
            <a:avLst>
              <a:gd name="adj" fmla="val 396992"/>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8768239" y="4930721"/>
            <a:ext cx="4822984" cy="506730"/>
          </a:xfrm>
          <a:prstGeom prst="roundRect">
            <a:avLst>
              <a:gd name="adj" fmla="val 396992"/>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6" name="Text 4"/>
          <p:cNvSpPr/>
          <p:nvPr/>
        </p:nvSpPr>
        <p:spPr>
          <a:xfrm>
            <a:off x="3782378" y="5600328"/>
            <a:ext cx="4822984" cy="343852"/>
          </a:xfrm>
          <a:prstGeom prst="roundRect">
            <a:avLst>
              <a:gd name="adj" fmla="val 585042"/>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7" name="Text 5"/>
          <p:cNvSpPr/>
          <p:nvPr/>
        </p:nvSpPr>
        <p:spPr>
          <a:xfrm>
            <a:off x="8768239" y="5600328"/>
            <a:ext cx="4822984" cy="343852"/>
          </a:xfrm>
          <a:prstGeom prst="roundRect">
            <a:avLst>
              <a:gd name="adj" fmla="val 585042"/>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8" name="Text 6"/>
          <p:cNvSpPr/>
          <p:nvPr/>
        </p:nvSpPr>
        <p:spPr>
          <a:xfrm>
            <a:off x="3782378" y="4190420"/>
            <a:ext cx="10005022" cy="126682"/>
          </a:xfrm>
          <a:prstGeom prst="rect">
            <a:avLst/>
          </a:prstGeom>
          <a:noFill/>
          <a:ln/>
        </p:spPr>
        <p:txBody>
          <a:bodyPr wrap="square" lIns="0" tIns="0" rIns="0" bIns="0" rtlCol="0" anchor="t"/>
          <a:lstStyle/>
          <a:p>
            <a:pPr indent="0" marL="0">
              <a:lnSpc>
                <a:spcPts val="842"/>
              </a:lnSpc>
              <a:buNone/>
            </a:pPr>
            <a:r>
              <a:rPr lang="en-US" sz="936" b="1" dirty="0">
                <a:solidFill>
                  <a:srgbClr val="1E293B"/>
                </a:solidFill>
                <a:latin typeface="Times" pitchFamily="34" charset="0"/>
                <a:ea typeface="Times" pitchFamily="34" charset="-122"/>
                <a:cs typeface="Times" pitchFamily="34" charset="-120"/>
              </a:rPr>
              <a:t>Anti-patterns</a:t>
            </a:r>
            <a:endParaRPr lang="en-US" sz="936" dirty="0"/>
          </a:p>
        </p:txBody>
      </p:sp>
      <p:sp>
        <p:nvSpPr>
          <p:cNvPr id="9" name="Text 7"/>
          <p:cNvSpPr/>
          <p:nvPr/>
        </p:nvSpPr>
        <p:spPr>
          <a:xfrm>
            <a:off x="3782378" y="4497229"/>
            <a:ext cx="10005022" cy="253365"/>
          </a:xfrm>
          <a:prstGeom prst="rect">
            <a:avLst/>
          </a:prstGeom>
          <a:noFill/>
          <a:ln/>
        </p:spPr>
        <p:txBody>
          <a:bodyPr wrap="square" lIns="0" tIns="0" rIns="0" bIns="0" rtlCol="0" anchor="t"/>
          <a:lstStyle/>
          <a:p>
            <a:pPr indent="0" marL="0">
              <a:lnSpc>
                <a:spcPts val="1620"/>
              </a:lnSpc>
              <a:buNone/>
            </a:pPr>
            <a:r>
              <a:rPr lang="en-US" sz="1800" b="1" dirty="0">
                <a:solidFill>
                  <a:srgbClr val="1E293B"/>
                </a:solidFill>
                <a:latin typeface="Times" pitchFamily="34" charset="0"/>
                <a:ea typeface="Times" pitchFamily="34" charset="-122"/>
                <a:cs typeface="Times" pitchFamily="34" charset="-120"/>
              </a:rPr>
              <a:t>What should not be in the spec file</a:t>
            </a:r>
            <a:endParaRPr lang="en-US" sz="1800" dirty="0"/>
          </a:p>
        </p:txBody>
      </p:sp>
      <p:sp>
        <p:nvSpPr>
          <p:cNvPr id="10" name="Text 8"/>
          <p:cNvSpPr/>
          <p:nvPr/>
        </p:nvSpPr>
        <p:spPr>
          <a:xfrm>
            <a:off x="3791426" y="4939769"/>
            <a:ext cx="4900984"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Do not prescribe the whole implementation</a:t>
            </a:r>
            <a:endParaRPr lang="en-US" sz="1200" dirty="0"/>
          </a:p>
        </p:txBody>
      </p:sp>
      <p:sp>
        <p:nvSpPr>
          <p:cNvPr id="11" name="Text 9"/>
          <p:cNvSpPr/>
          <p:nvPr/>
        </p:nvSpPr>
        <p:spPr>
          <a:xfrm>
            <a:off x="3791426" y="5102647"/>
            <a:ext cx="4804886"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Avoid forcing class names, internal file structure, algorithms, or refactor patterns unless they are true hard constraints.</a:t>
            </a:r>
            <a:endParaRPr lang="en-US" sz="1200" dirty="0"/>
          </a:p>
        </p:txBody>
      </p:sp>
      <p:sp>
        <p:nvSpPr>
          <p:cNvPr id="12" name="Text 10"/>
          <p:cNvSpPr/>
          <p:nvPr/>
        </p:nvSpPr>
        <p:spPr>
          <a:xfrm>
            <a:off x="8777288" y="4939769"/>
            <a:ext cx="4900984"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Do not mix requirements with brainstorms</a:t>
            </a:r>
            <a:endParaRPr lang="en-US" sz="1200" dirty="0"/>
          </a:p>
        </p:txBody>
      </p:sp>
      <p:sp>
        <p:nvSpPr>
          <p:cNvPr id="13" name="Text 11"/>
          <p:cNvSpPr/>
          <p:nvPr/>
        </p:nvSpPr>
        <p:spPr>
          <a:xfrm>
            <a:off x="8777288" y="5102647"/>
            <a:ext cx="4804886"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Separate committed behavior from optional ideas, future enhancements, or rough thoughts.</a:t>
            </a:r>
            <a:endParaRPr lang="en-US" sz="1200" dirty="0"/>
          </a:p>
        </p:txBody>
      </p:sp>
      <p:sp>
        <p:nvSpPr>
          <p:cNvPr id="14" name="Text 12"/>
          <p:cNvSpPr/>
          <p:nvPr/>
        </p:nvSpPr>
        <p:spPr>
          <a:xfrm>
            <a:off x="3791426" y="5609377"/>
            <a:ext cx="4900984"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Do not use vague language</a:t>
            </a:r>
            <a:endParaRPr lang="en-US" sz="1200" dirty="0"/>
          </a:p>
        </p:txBody>
      </p:sp>
      <p:sp>
        <p:nvSpPr>
          <p:cNvPr id="15" name="Text 13"/>
          <p:cNvSpPr/>
          <p:nvPr/>
        </p:nvSpPr>
        <p:spPr>
          <a:xfrm>
            <a:off x="3791426" y="5772254"/>
            <a:ext cx="4900984"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Words like “clean,” “smart,” or “fast” need measurable meaning or examples.</a:t>
            </a:r>
            <a:endParaRPr lang="en-US" sz="1200" dirty="0"/>
          </a:p>
        </p:txBody>
      </p:sp>
      <p:sp>
        <p:nvSpPr>
          <p:cNvPr id="16" name="Text 14"/>
          <p:cNvSpPr/>
          <p:nvPr/>
        </p:nvSpPr>
        <p:spPr>
          <a:xfrm>
            <a:off x="8777288" y="5609377"/>
            <a:ext cx="4900984"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Do not skip review</a:t>
            </a:r>
            <a:endParaRPr lang="en-US" sz="1200" dirty="0"/>
          </a:p>
        </p:txBody>
      </p:sp>
      <p:sp>
        <p:nvSpPr>
          <p:cNvPr id="17" name="Text 15"/>
          <p:cNvSpPr/>
          <p:nvPr/>
        </p:nvSpPr>
        <p:spPr>
          <a:xfrm>
            <a:off x="8777288" y="5772254"/>
            <a:ext cx="4900984"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An unreviewed spec just moves ambiguity upstream instead of removing it.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CF8"/>
        </a:solidFill>
      </p:bgPr>
    </p:bg>
    <p:spTree>
      <p:nvGrpSpPr>
        <p:cNvPr id="1" name=""/>
        <p:cNvGrpSpPr/>
        <p:nvPr/>
      </p:nvGrpSpPr>
      <p:grpSpPr>
        <a:xfrm>
          <a:off x="0" y="0"/>
          <a:ext cx="0" cy="0"/>
          <a:chOff x="0" y="0"/>
          <a:chExt cx="0" cy="0"/>
        </a:xfrm>
      </p:grpSpPr>
      <p:sp>
        <p:nvSpPr>
          <p:cNvPr id="2" name="Text 0"/>
          <p:cNvSpPr/>
          <p:nvPr/>
        </p:nvSpPr>
        <p:spPr>
          <a:xfrm>
            <a:off x="14303182" y="-914481"/>
            <a:ext cx="3806706" cy="3806706"/>
          </a:xfrm>
          <a:prstGeom prst="roundRect">
            <a:avLst>
              <a:gd name="adj" fmla="val 120104"/>
            </a:avLst>
          </a:prstGeom>
          <a:solidFill>
            <a:srgbClr val="C2410C">
              <a:alpha val="14000"/>
            </a:srgbClr>
          </a:solidFill>
          <a:ln/>
        </p:spPr>
        <p:txBody>
          <a:bodyPr wrap="none" lIns="0" tIns="0" rIns="0" bIns="0" rtlCol="0" anchor="ctr">
            <a:normAutofit/>
          </a:bodyPr>
          <a:lstStyle/>
          <a:p>
            <a:pPr indent="0" marL="0">
              <a:buNone/>
            </a:pPr>
            <a:endParaRPr lang="en-US" dirty="0"/>
          </a:p>
        </p:txBody>
      </p:sp>
      <p:sp>
        <p:nvSpPr>
          <p:cNvPr id="3" name="Text 1"/>
          <p:cNvSpPr/>
          <p:nvPr/>
        </p:nvSpPr>
        <p:spPr>
          <a:xfrm>
            <a:off x="-546899" y="7687170"/>
            <a:ext cx="2898843" cy="2898843"/>
          </a:xfrm>
          <a:prstGeom prst="roundRect">
            <a:avLst>
              <a:gd name="adj" fmla="val 157718"/>
            </a:avLst>
          </a:prstGeom>
          <a:solidFill>
            <a:srgbClr val="65713A">
              <a:alpha val="13000"/>
            </a:srgbClr>
          </a:solidFill>
          <a:ln/>
        </p:spPr>
        <p:txBody>
          <a:bodyPr wrap="none" lIns="0" tIns="0" rIns="0" bIns="0" rtlCol="0" anchor="ctr">
            <a:normAutofit/>
          </a:bodyPr>
          <a:lstStyle/>
          <a:p>
            <a:pPr indent="0" marL="0">
              <a:buNone/>
            </a:pPr>
            <a:endParaRPr lang="en-US" dirty="0"/>
          </a:p>
        </p:txBody>
      </p:sp>
      <p:sp>
        <p:nvSpPr>
          <p:cNvPr id="4" name="Text 2"/>
          <p:cNvSpPr/>
          <p:nvPr/>
        </p:nvSpPr>
        <p:spPr>
          <a:xfrm>
            <a:off x="2781971" y="2737346"/>
            <a:ext cx="1991798" cy="1991798"/>
          </a:xfrm>
          <a:prstGeom prst="roundRect">
            <a:avLst>
              <a:gd name="adj" fmla="val 229541"/>
            </a:avLst>
          </a:prstGeom>
          <a:solidFill>
            <a:srgbClr val="1E293B">
              <a:alpha val="10000"/>
            </a:srgbClr>
          </a:solidFill>
          <a:ln/>
        </p:spPr>
        <p:txBody>
          <a:bodyPr wrap="none" lIns="0" tIns="0" rIns="0" bIns="0" rtlCol="0" anchor="ctr">
            <a:normAutofit/>
          </a:bodyPr>
          <a:lstStyle/>
          <a:p>
            <a:pPr indent="0" marL="0">
              <a:buNone/>
            </a:pPr>
            <a:endParaRPr lang="en-US" dirty="0"/>
          </a:p>
        </p:txBody>
      </p:sp>
      <p:sp>
        <p:nvSpPr>
          <p:cNvPr id="5" name="Text 3"/>
          <p:cNvSpPr/>
          <p:nvPr/>
        </p:nvSpPr>
        <p:spPr>
          <a:xfrm>
            <a:off x="3782378" y="5234136"/>
            <a:ext cx="3148965" cy="714285"/>
          </a:xfrm>
          <a:prstGeom prst="roundRect">
            <a:avLst>
              <a:gd name="adj" fmla="val 28163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6" name="Text 4"/>
          <p:cNvSpPr/>
          <p:nvPr/>
        </p:nvSpPr>
        <p:spPr>
          <a:xfrm>
            <a:off x="3791426" y="5243185"/>
            <a:ext cx="508002" cy="207555"/>
          </a:xfrm>
          <a:prstGeom prst="roundRect">
            <a:avLst>
              <a:gd name="adj" fmla="val 44011737"/>
            </a:avLst>
          </a:prstGeom>
          <a:solidFill>
            <a:srgbClr val="C2410C">
              <a:alpha val="10000"/>
            </a:srgbClr>
          </a:solidFill>
          <a:ln/>
        </p:spPr>
        <p:txBody>
          <a:bodyPr wrap="square" lIns="109728" tIns="109728" rIns="109728" bIns="109728" rtlCol="0" anchor="t">
            <a:normAutofit/>
          </a:bodyPr>
          <a:lstStyle/>
          <a:p>
            <a:pPr algn="l" indent="0" marL="0">
              <a:buNone/>
            </a:pPr>
            <a:r>
              <a:rPr lang="en-US" sz="912" b="1" dirty="0">
                <a:solidFill>
                  <a:srgbClr val="1E293B"/>
                </a:solidFill>
                <a:latin typeface="Times" pitchFamily="34" charset="0"/>
                <a:ea typeface="Times" pitchFamily="34" charset="-122"/>
                <a:cs typeface="Times" pitchFamily="34" charset="-120"/>
              </a:rPr>
              <a:t>Define</a:t>
            </a:r>
            <a:endParaRPr lang="en-US" sz="912" dirty="0"/>
          </a:p>
        </p:txBody>
      </p:sp>
      <p:sp>
        <p:nvSpPr>
          <p:cNvPr id="7" name="Text 5"/>
          <p:cNvSpPr/>
          <p:nvPr/>
        </p:nvSpPr>
        <p:spPr>
          <a:xfrm>
            <a:off x="7112318" y="5234136"/>
            <a:ext cx="3148964" cy="714285"/>
          </a:xfrm>
          <a:prstGeom prst="roundRect">
            <a:avLst>
              <a:gd name="adj" fmla="val 28163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8" name="Text 6"/>
          <p:cNvSpPr/>
          <p:nvPr/>
        </p:nvSpPr>
        <p:spPr>
          <a:xfrm>
            <a:off x="7121366" y="5243185"/>
            <a:ext cx="642320" cy="207555"/>
          </a:xfrm>
          <a:prstGeom prst="roundRect">
            <a:avLst>
              <a:gd name="adj" fmla="val 44011737"/>
            </a:avLst>
          </a:prstGeom>
          <a:solidFill>
            <a:srgbClr val="C2410C">
              <a:alpha val="10000"/>
            </a:srgbClr>
          </a:solidFill>
          <a:ln/>
        </p:spPr>
        <p:txBody>
          <a:bodyPr wrap="square" lIns="109728" tIns="109728" rIns="109728" bIns="109728" rtlCol="0" anchor="t">
            <a:normAutofit/>
          </a:bodyPr>
          <a:lstStyle/>
          <a:p>
            <a:pPr algn="l" indent="0" marL="0">
              <a:buNone/>
            </a:pPr>
            <a:r>
              <a:rPr lang="en-US" sz="912" b="1" dirty="0">
                <a:solidFill>
                  <a:srgbClr val="1E293B"/>
                </a:solidFill>
                <a:latin typeface="Times" pitchFamily="34" charset="0"/>
                <a:ea typeface="Times" pitchFamily="34" charset="-122"/>
                <a:cs typeface="Times" pitchFamily="34" charset="-120"/>
              </a:rPr>
              <a:t>Generate</a:t>
            </a:r>
            <a:endParaRPr lang="en-US" sz="912" dirty="0"/>
          </a:p>
        </p:txBody>
      </p:sp>
      <p:sp>
        <p:nvSpPr>
          <p:cNvPr id="9" name="Text 7"/>
          <p:cNvSpPr/>
          <p:nvPr/>
        </p:nvSpPr>
        <p:spPr>
          <a:xfrm>
            <a:off x="10442257" y="5234136"/>
            <a:ext cx="3148966" cy="714285"/>
          </a:xfrm>
          <a:prstGeom prst="roundRect">
            <a:avLst>
              <a:gd name="adj" fmla="val 281635"/>
            </a:avLst>
          </a:prstGeom>
          <a:solidFill>
            <a:srgbClr val="FFFFFF">
              <a:alpha val="88000"/>
            </a:srgbClr>
          </a:solidFill>
          <a:ln w="9525">
            <a:solidFill>
              <a:srgbClr val="1E293B"/>
            </a:solidFill>
          </a:ln>
          <a:effectLst>
            <a:outerShdw sx="100000" sy="100000" kx="0" ky="0" algn="bl" rotWithShape="0" blurRad="285750" dist="114300" dir="5400000">
              <a:srgbClr val="1E293B">
                <a:alpha val="8000"/>
              </a:srgbClr>
            </a:outerShdw>
          </a:effectLst>
        </p:spPr>
        <p:txBody>
          <a:bodyPr wrap="none" lIns="0" tIns="0" rIns="0" bIns="0" rtlCol="0" anchor="ctr">
            <a:normAutofit/>
          </a:bodyPr>
          <a:lstStyle/>
          <a:p>
            <a:pPr indent="0" marL="0">
              <a:buNone/>
            </a:pPr>
            <a:endParaRPr lang="en-US" dirty="0"/>
          </a:p>
        </p:txBody>
      </p:sp>
      <p:sp>
        <p:nvSpPr>
          <p:cNvPr id="10" name="Text 8"/>
          <p:cNvSpPr/>
          <p:nvPr/>
        </p:nvSpPr>
        <p:spPr>
          <a:xfrm>
            <a:off x="10451306" y="5243185"/>
            <a:ext cx="497681" cy="207555"/>
          </a:xfrm>
          <a:prstGeom prst="roundRect">
            <a:avLst>
              <a:gd name="adj" fmla="val 44011737"/>
            </a:avLst>
          </a:prstGeom>
          <a:solidFill>
            <a:srgbClr val="C2410C">
              <a:alpha val="10000"/>
            </a:srgbClr>
          </a:solidFill>
          <a:ln/>
        </p:spPr>
        <p:txBody>
          <a:bodyPr wrap="square" lIns="109728" tIns="109728" rIns="109728" bIns="109728" rtlCol="0" anchor="t">
            <a:normAutofit/>
          </a:bodyPr>
          <a:lstStyle/>
          <a:p>
            <a:pPr algn="l" indent="0" marL="0">
              <a:buNone/>
            </a:pPr>
            <a:r>
              <a:rPr lang="en-US" sz="912" b="1" dirty="0">
                <a:solidFill>
                  <a:srgbClr val="1E293B"/>
                </a:solidFill>
                <a:latin typeface="Times" pitchFamily="34" charset="0"/>
                <a:ea typeface="Times" pitchFamily="34" charset="-122"/>
                <a:cs typeface="Times" pitchFamily="34" charset="-120"/>
              </a:rPr>
              <a:t>Verify</a:t>
            </a:r>
            <a:endParaRPr lang="en-US" sz="912" dirty="0"/>
          </a:p>
        </p:txBody>
      </p:sp>
      <p:sp>
        <p:nvSpPr>
          <p:cNvPr id="11" name="Text 9"/>
          <p:cNvSpPr/>
          <p:nvPr/>
        </p:nvSpPr>
        <p:spPr>
          <a:xfrm>
            <a:off x="3782378" y="4186178"/>
            <a:ext cx="10005022" cy="126682"/>
          </a:xfrm>
          <a:prstGeom prst="rect">
            <a:avLst/>
          </a:prstGeom>
          <a:noFill/>
          <a:ln/>
        </p:spPr>
        <p:txBody>
          <a:bodyPr wrap="square" lIns="0" tIns="0" rIns="0" bIns="0" rtlCol="0" anchor="t"/>
          <a:lstStyle/>
          <a:p>
            <a:pPr indent="0" marL="0">
              <a:lnSpc>
                <a:spcPts val="842"/>
              </a:lnSpc>
              <a:buNone/>
            </a:pPr>
            <a:r>
              <a:rPr lang="en-US" sz="936" b="1" dirty="0">
                <a:solidFill>
                  <a:srgbClr val="1E293B"/>
                </a:solidFill>
                <a:latin typeface="Times" pitchFamily="34" charset="0"/>
                <a:ea typeface="Times" pitchFamily="34" charset="-122"/>
                <a:cs typeface="Times" pitchFamily="34" charset="-120"/>
              </a:rPr>
              <a:t>Takeaway</a:t>
            </a:r>
            <a:endParaRPr lang="en-US" sz="936" dirty="0"/>
          </a:p>
        </p:txBody>
      </p:sp>
      <p:sp>
        <p:nvSpPr>
          <p:cNvPr id="12" name="Text 10"/>
          <p:cNvSpPr/>
          <p:nvPr/>
        </p:nvSpPr>
        <p:spPr>
          <a:xfrm>
            <a:off x="3782378" y="4492987"/>
            <a:ext cx="10005022" cy="253365"/>
          </a:xfrm>
          <a:prstGeom prst="rect">
            <a:avLst/>
          </a:prstGeom>
          <a:noFill/>
          <a:ln/>
        </p:spPr>
        <p:txBody>
          <a:bodyPr wrap="square" lIns="0" tIns="0" rIns="0" bIns="0" rtlCol="0" anchor="t"/>
          <a:lstStyle/>
          <a:p>
            <a:pPr indent="0" marL="0">
              <a:lnSpc>
                <a:spcPts val="1620"/>
              </a:lnSpc>
              <a:buNone/>
            </a:pPr>
            <a:r>
              <a:rPr lang="en-US" sz="1800" b="1" dirty="0">
                <a:solidFill>
                  <a:srgbClr val="FFFFFF"/>
                </a:solidFill>
                <a:latin typeface="Times" pitchFamily="34" charset="0"/>
                <a:ea typeface="Times" pitchFamily="34" charset="-122"/>
                <a:cs typeface="Times" pitchFamily="34" charset="-120"/>
              </a:rPr>
              <a:t>Think in contracts, not prompts</a:t>
            </a:r>
            <a:endParaRPr lang="en-US" sz="1800" dirty="0"/>
          </a:p>
        </p:txBody>
      </p:sp>
      <p:sp>
        <p:nvSpPr>
          <p:cNvPr id="13" name="Text 11"/>
          <p:cNvSpPr/>
          <p:nvPr/>
        </p:nvSpPr>
        <p:spPr>
          <a:xfrm>
            <a:off x="3782378" y="4926479"/>
            <a:ext cx="10005022"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The practical shift is simple: define the intended behavior and success conditions first, then let engineering and AI implement to that contract.</a:t>
            </a:r>
            <a:endParaRPr lang="en-US" sz="1200" dirty="0"/>
          </a:p>
        </p:txBody>
      </p:sp>
      <p:sp>
        <p:nvSpPr>
          <p:cNvPr id="14" name="Text 12"/>
          <p:cNvSpPr/>
          <p:nvPr/>
        </p:nvSpPr>
        <p:spPr>
          <a:xfrm>
            <a:off x="3791426" y="5450741"/>
            <a:ext cx="3193485"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The what</a:t>
            </a:r>
            <a:endParaRPr lang="en-US" sz="1200" dirty="0"/>
          </a:p>
        </p:txBody>
      </p:sp>
      <p:sp>
        <p:nvSpPr>
          <p:cNvPr id="15" name="Text 13"/>
          <p:cNvSpPr/>
          <p:nvPr/>
        </p:nvSpPr>
        <p:spPr>
          <a:xfrm>
            <a:off x="3791426" y="5613618"/>
            <a:ext cx="3193485" cy="162877"/>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Goals, requirements, constraints, and edge cases.</a:t>
            </a:r>
            <a:endParaRPr lang="en-US" sz="1200" dirty="0"/>
          </a:p>
        </p:txBody>
      </p:sp>
      <p:sp>
        <p:nvSpPr>
          <p:cNvPr id="16" name="Text 14"/>
          <p:cNvSpPr/>
          <p:nvPr/>
        </p:nvSpPr>
        <p:spPr>
          <a:xfrm>
            <a:off x="7121366" y="5450741"/>
            <a:ext cx="3193485"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The how</a:t>
            </a:r>
            <a:endParaRPr lang="en-US" sz="1200" dirty="0"/>
          </a:p>
        </p:txBody>
      </p:sp>
      <p:sp>
        <p:nvSpPr>
          <p:cNvPr id="17" name="Text 15"/>
          <p:cNvSpPr/>
          <p:nvPr/>
        </p:nvSpPr>
        <p:spPr>
          <a:xfrm>
            <a:off x="7121366" y="5613618"/>
            <a:ext cx="3130868"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Use engineering judgment and LLM assistance for implementation.</a:t>
            </a:r>
            <a:endParaRPr lang="en-US" sz="1200" dirty="0"/>
          </a:p>
        </p:txBody>
      </p:sp>
      <p:sp>
        <p:nvSpPr>
          <p:cNvPr id="18" name="Text 16"/>
          <p:cNvSpPr/>
          <p:nvPr/>
        </p:nvSpPr>
        <p:spPr>
          <a:xfrm>
            <a:off x="10451306" y="5450741"/>
            <a:ext cx="3193484" cy="162878"/>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Against the contract</a:t>
            </a:r>
            <a:endParaRPr lang="en-US" sz="1200" dirty="0"/>
          </a:p>
        </p:txBody>
      </p:sp>
      <p:sp>
        <p:nvSpPr>
          <p:cNvPr id="19" name="Text 17"/>
          <p:cNvSpPr/>
          <p:nvPr/>
        </p:nvSpPr>
        <p:spPr>
          <a:xfrm>
            <a:off x="10451306" y="5613618"/>
            <a:ext cx="3130867" cy="325755"/>
          </a:xfrm>
          <a:prstGeom prst="rect">
            <a:avLst/>
          </a:prstGeom>
          <a:noFill/>
          <a:ln/>
        </p:spPr>
        <p:txBody>
          <a:bodyPr wrap="square" lIns="0" tIns="0" rIns="0" bIns="0" rtlCol="0" anchor="t"/>
          <a:lstStyle/>
          <a:p>
            <a:pPr indent="0" marL="0">
              <a:lnSpc>
                <a:spcPts val="1080"/>
              </a:lnSpc>
              <a:buNone/>
            </a:pPr>
            <a:r>
              <a:rPr lang="en-US" sz="1200" dirty="0">
                <a:solidFill>
                  <a:srgbClr val="1E293B"/>
                </a:solidFill>
                <a:latin typeface="Times" pitchFamily="34" charset="0"/>
                <a:ea typeface="Times" pitchFamily="34" charset="-122"/>
                <a:cs typeface="Times" pitchFamily="34" charset="-120"/>
              </a:rPr>
              <a:t>Review, test, and refine by checking compliance with the spec.</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Perplexity</cp:lastModifiedBy>
  <cp:revision>1</cp:revision>
  <dcterms:created xsi:type="dcterms:W3CDTF">2026-06-30T08:28:02Z</dcterms:created>
  <dcterms:modified xsi:type="dcterms:W3CDTF">2026-06-30T08:28:02Z</dcterms:modified>
</cp:coreProperties>
</file>