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014811"/>
            <a:ext cx="2616101" cy="1878062"/>
          </a:xfrm>
          <a:prstGeom prst="roundRect">
            <a:avLst>
              <a:gd name="adj" fmla="val 107115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57225" y="3214836"/>
            <a:ext cx="293787" cy="258812"/>
          </a:xfrm>
          <a:prstGeom prst="roundRect">
            <a:avLst>
              <a:gd name="adj" fmla="val 35295334"/>
            </a:avLst>
          </a:prstGeom>
          <a:solidFill>
            <a:srgbClr val="C2410C">
              <a:alpha val="10000"/>
            </a:srgbClr>
          </a:solidFill>
          <a:ln/>
        </p:spPr>
        <p:txBody>
          <a:bodyPr wrap="square" lIns="106680" tIns="106680" rIns="106680" bIns="106680" rtlCol="0" anchor="t">
            <a:normAutofit/>
          </a:bodyPr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1</a:t>
            </a:r>
            <a:endParaRPr lang="en-US" sz="912" dirty="0"/>
          </a:p>
        </p:txBody>
      </p:sp>
      <p:sp>
        <p:nvSpPr>
          <p:cNvPr id="4" name="Text 2"/>
          <p:cNvSpPr/>
          <p:nvPr/>
        </p:nvSpPr>
        <p:spPr>
          <a:xfrm>
            <a:off x="3263801" y="3014811"/>
            <a:ext cx="2616250" cy="1878062"/>
          </a:xfrm>
          <a:prstGeom prst="roundRect">
            <a:avLst>
              <a:gd name="adj" fmla="val 107115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63826" y="3214836"/>
            <a:ext cx="293787" cy="258812"/>
          </a:xfrm>
          <a:prstGeom prst="roundRect">
            <a:avLst>
              <a:gd name="adj" fmla="val 35295334"/>
            </a:avLst>
          </a:prstGeom>
          <a:solidFill>
            <a:srgbClr val="C2410C">
              <a:alpha val="10000"/>
            </a:srgbClr>
          </a:solidFill>
          <a:ln/>
        </p:spPr>
        <p:txBody>
          <a:bodyPr wrap="square" lIns="106680" tIns="106680" rIns="106680" bIns="106680" rtlCol="0" anchor="t">
            <a:normAutofit/>
          </a:bodyPr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2</a:t>
            </a:r>
            <a:endParaRPr lang="en-US" sz="912" dirty="0"/>
          </a:p>
        </p:txBody>
      </p:sp>
      <p:sp>
        <p:nvSpPr>
          <p:cNvPr id="6" name="Text 4"/>
          <p:cNvSpPr/>
          <p:nvPr/>
        </p:nvSpPr>
        <p:spPr>
          <a:xfrm>
            <a:off x="6070550" y="3014811"/>
            <a:ext cx="2616101" cy="1878062"/>
          </a:xfrm>
          <a:prstGeom prst="roundRect">
            <a:avLst>
              <a:gd name="adj" fmla="val 107115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70575" y="3214836"/>
            <a:ext cx="293787" cy="258812"/>
          </a:xfrm>
          <a:prstGeom prst="roundRect">
            <a:avLst>
              <a:gd name="adj" fmla="val 35295334"/>
            </a:avLst>
          </a:prstGeom>
          <a:solidFill>
            <a:srgbClr val="C2410C">
              <a:alpha val="10000"/>
            </a:srgbClr>
          </a:solidFill>
          <a:ln/>
        </p:spPr>
        <p:txBody>
          <a:bodyPr wrap="square" lIns="106680" tIns="106680" rIns="106680" bIns="106680" rtlCol="0" anchor="t">
            <a:normAutofit/>
          </a:bodyPr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3</a:t>
            </a:r>
            <a:endParaRPr lang="en-US" sz="912" dirty="0"/>
          </a:p>
        </p:txBody>
      </p:sp>
      <p:sp>
        <p:nvSpPr>
          <p:cNvPr id="8" name="Text 6"/>
          <p:cNvSpPr/>
          <p:nvPr/>
        </p:nvSpPr>
        <p:spPr>
          <a:xfrm>
            <a:off x="457200" y="5197673"/>
            <a:ext cx="8229600" cy="1654373"/>
          </a:xfrm>
          <a:prstGeom prst="roundRect">
            <a:avLst>
              <a:gd name="adj" fmla="val 121598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4904" y="-1708398"/>
            <a:ext cx="8394192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250"/>
              </a:lnSpc>
              <a:buNone/>
            </a:pPr>
            <a:r>
              <a:rPr lang="en-US" sz="8250" dirty="0">
                <a:solidFill>
                  <a:srgbClr val="1E293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🧭</a:t>
            </a:r>
            <a:endParaRPr lang="en-US" sz="8250" dirty="0"/>
          </a:p>
        </p:txBody>
      </p:sp>
      <p:sp>
        <p:nvSpPr>
          <p:cNvPr id="10" name="Text 8"/>
          <p:cNvSpPr/>
          <p:nvPr/>
        </p:nvSpPr>
        <p:spPr>
          <a:xfrm>
            <a:off x="374904" y="-508248"/>
            <a:ext cx="8394192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Rapid learning session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457200" y="-329952"/>
            <a:ext cx="8229600" cy="2194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40"/>
              </a:lnSpc>
              <a:buNone/>
            </a:pPr>
            <a:r>
              <a:rPr lang="en-US" sz="5760" b="1" dirty="0">
                <a:solidFill>
                  <a:srgbClr val="FFFFFF"/>
                </a:solidFill>
                <a:latin typeface="Literata" pitchFamily="34" charset="0"/>
                <a:ea typeface="Literata" pitchFamily="34" charset="-122"/>
                <a:cs typeface="Literata" pitchFamily="34" charset="-120"/>
              </a:rPr>
              <a:t>Spec-Driven Development</a:t>
            </a:r>
            <a:endParaRPr lang="en-US" sz="5760" dirty="0"/>
          </a:p>
        </p:txBody>
      </p:sp>
      <p:sp>
        <p:nvSpPr>
          <p:cNvPr id="12" name="Text 10"/>
          <p:cNvSpPr/>
          <p:nvPr/>
        </p:nvSpPr>
        <p:spPr>
          <a:xfrm>
            <a:off x="914400" y="2016770"/>
            <a:ext cx="7315200" cy="617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en-US" sz="162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Start from a written contract, then let humans and LLMs implement against that contract.</a:t>
            </a:r>
            <a:endParaRPr lang="en-US" sz="1620" dirty="0"/>
          </a:p>
        </p:txBody>
      </p:sp>
      <p:sp>
        <p:nvSpPr>
          <p:cNvPr id="13" name="Text 11"/>
          <p:cNvSpPr/>
          <p:nvPr/>
        </p:nvSpPr>
        <p:spPr>
          <a:xfrm>
            <a:off x="657225" y="3587948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it 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7225" y="3930848"/>
            <a:ext cx="221605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spec-first workflow where behavior, scope, constraints, and acceptance criteria are agreed before coding.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463826" y="3587948"/>
            <a:ext cx="22605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Why it helps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463826" y="3930848"/>
            <a:ext cx="2216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 reduces ambiguity, rework, and hidden assumptions, especially in AI-assisted development.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70575" y="3587948"/>
            <a:ext cx="22603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What to avoid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70575" y="3930848"/>
            <a:ext cx="221605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 not turn the spec into a low-level implementation plan or a dumping ground for design decisions.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5397698"/>
            <a:ext cx="79569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Speaker script</a:t>
            </a:r>
            <a:endParaRPr lang="en-US" sz="984" dirty="0"/>
          </a:p>
        </p:txBody>
      </p:sp>
      <p:sp>
        <p:nvSpPr>
          <p:cNvPr id="20" name="Text 18"/>
          <p:cNvSpPr/>
          <p:nvPr/>
        </p:nvSpPr>
        <p:spPr>
          <a:xfrm>
            <a:off x="685800" y="5661422"/>
            <a:ext cx="78009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“This session introduces spec-driven development as a simple shift in authority: the specification becomes the source of truth, and the code becomes an implementation of that truth. The payoff is not just cleaner planning; it is better control when using LLMs, because the model is no longer guessing from loosely connected prompts.”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7020"/>
            <a:ext cx="4000500" cy="3211562"/>
          </a:xfrm>
          <a:prstGeom prst="roundRect">
            <a:avLst>
              <a:gd name="adj" fmla="val 62639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95325" y="445145"/>
            <a:ext cx="1498104" cy="258812"/>
          </a:xfrm>
          <a:prstGeom prst="roundRect">
            <a:avLst>
              <a:gd name="adj" fmla="val 35295334"/>
            </a:avLst>
          </a:prstGeom>
          <a:solidFill>
            <a:srgbClr val="C2410C">
              <a:alpha val="10000"/>
            </a:srgbClr>
          </a:solidFill>
          <a:ln/>
        </p:spPr>
        <p:txBody>
          <a:bodyPr wrap="square" lIns="106680" tIns="106680" rIns="106680" bIns="106680" rtlCol="0" anchor="t">
            <a:normAutofit/>
          </a:bodyPr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Iterative prompting</a:t>
            </a:r>
            <a:endParaRPr lang="en-US" sz="912" dirty="0"/>
          </a:p>
        </p:txBody>
      </p:sp>
      <p:sp>
        <p:nvSpPr>
          <p:cNvPr id="4" name="Text 2"/>
          <p:cNvSpPr/>
          <p:nvPr/>
        </p:nvSpPr>
        <p:spPr>
          <a:xfrm>
            <a:off x="4686300" y="207020"/>
            <a:ext cx="4000500" cy="3211562"/>
          </a:xfrm>
          <a:prstGeom prst="roundRect">
            <a:avLst>
              <a:gd name="adj" fmla="val 62639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924425" y="445145"/>
            <a:ext cx="1885652" cy="258812"/>
          </a:xfrm>
          <a:prstGeom prst="roundRect">
            <a:avLst>
              <a:gd name="adj" fmla="val 35295334"/>
            </a:avLst>
          </a:prstGeom>
          <a:solidFill>
            <a:srgbClr val="C2410C">
              <a:alpha val="10000"/>
            </a:srgbClr>
          </a:solidFill>
          <a:ln/>
        </p:spPr>
        <p:txBody>
          <a:bodyPr wrap="square" lIns="106680" tIns="106680" rIns="106680" bIns="106680" rtlCol="0" anchor="t">
            <a:normAutofit/>
          </a:bodyPr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Spec-driven development</a:t>
            </a:r>
            <a:endParaRPr lang="en-US" sz="912" dirty="0"/>
          </a:p>
        </p:txBody>
      </p:sp>
      <p:sp>
        <p:nvSpPr>
          <p:cNvPr id="6" name="Text 4"/>
          <p:cNvSpPr/>
          <p:nvPr/>
        </p:nvSpPr>
        <p:spPr>
          <a:xfrm>
            <a:off x="457200" y="3647182"/>
            <a:ext cx="2628900" cy="1276350"/>
          </a:xfrm>
          <a:prstGeom prst="roundRect">
            <a:avLst>
              <a:gd name="adj" fmla="val 157612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57550" y="3647182"/>
            <a:ext cx="2628900" cy="1276350"/>
          </a:xfrm>
          <a:prstGeom prst="roundRect">
            <a:avLst>
              <a:gd name="adj" fmla="val 157612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57900" y="3647182"/>
            <a:ext cx="2628900" cy="1276350"/>
          </a:xfrm>
          <a:prstGeom prst="roundRect">
            <a:avLst>
              <a:gd name="adj" fmla="val 157612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5152132"/>
            <a:ext cx="8229600" cy="1654373"/>
          </a:xfrm>
          <a:prstGeom prst="roundRect">
            <a:avLst>
              <a:gd name="adj" fmla="val 121598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-1662857"/>
            <a:ext cx="8394192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Core workflow</a:t>
            </a:r>
            <a:endParaRPr lang="en-US" sz="936" dirty="0"/>
          </a:p>
        </p:txBody>
      </p:sp>
      <p:sp>
        <p:nvSpPr>
          <p:cNvPr id="11" name="Text 9"/>
          <p:cNvSpPr/>
          <p:nvPr/>
        </p:nvSpPr>
        <p:spPr>
          <a:xfrm>
            <a:off x="457200" y="-1484561"/>
            <a:ext cx="8229600" cy="1462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1E293B"/>
                </a:solidFill>
                <a:latin typeface="Literata" pitchFamily="34" charset="0"/>
                <a:ea typeface="Literata" pitchFamily="34" charset="-122"/>
                <a:cs typeface="Literata" pitchFamily="34" charset="-120"/>
              </a:rPr>
              <a:t>Why this is better than iterative prompting</a:t>
            </a:r>
            <a:endParaRPr lang="en-US" sz="3840" dirty="0"/>
          </a:p>
        </p:txBody>
      </p:sp>
      <p:sp>
        <p:nvSpPr>
          <p:cNvPr id="12" name="Text 10"/>
          <p:cNvSpPr/>
          <p:nvPr/>
        </p:nvSpPr>
        <p:spPr>
          <a:xfrm>
            <a:off x="695325" y="818257"/>
            <a:ext cx="352425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Starts with a rough request and relies on repeated correction.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Requirements often live inside chat history instead of a durable artifact.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Works for small tasks, but drifts on larger systems.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Optimizes for local progress, not stable reproducibility.</a:t>
            </a:r>
            <a:endParaRPr lang="en-US" sz="1224" dirty="0"/>
          </a:p>
        </p:txBody>
      </p:sp>
      <p:sp>
        <p:nvSpPr>
          <p:cNvPr id="13" name="Text 11"/>
          <p:cNvSpPr/>
          <p:nvPr/>
        </p:nvSpPr>
        <p:spPr>
          <a:xfrm>
            <a:off x="4924425" y="818257"/>
            <a:ext cx="3524250" cy="2362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Starts with explicit requirements, boundaries, and acceptance criteria.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Creates a shared reference for PM, engineering, QA, and the LLM.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Moves iteration to the spec rather than patching prompts forever.</a:t>
            </a:r>
            <a:endParaRPr lang="en-US" sz="1224" dirty="0"/>
          </a:p>
          <a:p>
            <a:pPr marL="342900" indent="-342900">
              <a:lnSpc>
                <a:spcPts val="1989"/>
              </a:lnSpc>
              <a:buSzPct val="100000"/>
              <a:buChar char="•"/>
            </a:pPr>
            <a:r>
              <a:rPr lang="en-US" sz="1224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Optimizes for consistency, verification, and controlled change.</a:t>
            </a:r>
            <a:endParaRPr lang="en-US" sz="1224" dirty="0"/>
          </a:p>
        </p:txBody>
      </p:sp>
      <p:sp>
        <p:nvSpPr>
          <p:cNvPr id="14" name="Text 12"/>
          <p:cNvSpPr/>
          <p:nvPr/>
        </p:nvSpPr>
        <p:spPr>
          <a:xfrm>
            <a:off x="657225" y="3847207"/>
            <a:ext cx="2273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Write the what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7225" y="4152007"/>
            <a:ext cx="22288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Scope, user needs, system behavior, interfaces, and acceptance tests.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57575" y="3847207"/>
            <a:ext cx="2273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Review before building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57575" y="4152007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Resolve ambiguity while change is still cheap.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57925" y="3847207"/>
            <a:ext cx="22734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Generate to contract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57925" y="4152007"/>
            <a:ext cx="22288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the LLM to implement and refine against the spec.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5352157"/>
            <a:ext cx="79569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Speaker script</a:t>
            </a:r>
            <a:endParaRPr lang="en-US" sz="984" dirty="0"/>
          </a:p>
        </p:txBody>
      </p:sp>
      <p:sp>
        <p:nvSpPr>
          <p:cNvPr id="21" name="Text 19"/>
          <p:cNvSpPr/>
          <p:nvPr/>
        </p:nvSpPr>
        <p:spPr>
          <a:xfrm>
            <a:off x="685800" y="5615880"/>
            <a:ext cx="78009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“The key contrast is that iterative prompting stores intent in a conversation, while spec-driven development stores intent in a stable artifact. That shift matters because larger projects need shared memory, traceability, and repeatable behavior. The LLM still helps write code, but it is now implementing a contract rather than improvising from partial context.”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-696069"/>
            <a:ext cx="4029075" cy="2190750"/>
          </a:xfrm>
          <a:prstGeom prst="roundRect">
            <a:avLst>
              <a:gd name="adj" fmla="val 91826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57725" y="-696069"/>
            <a:ext cx="4029075" cy="2190750"/>
          </a:xfrm>
          <a:prstGeom prst="roundRect">
            <a:avLst>
              <a:gd name="adj" fmla="val 91826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66131"/>
            <a:ext cx="4029075" cy="1924050"/>
          </a:xfrm>
          <a:prstGeom prst="roundRect">
            <a:avLst>
              <a:gd name="adj" fmla="val 104554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57725" y="1666131"/>
            <a:ext cx="4029075" cy="1924050"/>
          </a:xfrm>
          <a:prstGeom prst="roundRect">
            <a:avLst>
              <a:gd name="adj" fmla="val 104554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3818781"/>
            <a:ext cx="4000500" cy="1276350"/>
          </a:xfrm>
          <a:prstGeom prst="roundRect">
            <a:avLst>
              <a:gd name="adj" fmla="val 157612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86300" y="3818781"/>
            <a:ext cx="4000500" cy="1276350"/>
          </a:xfrm>
          <a:prstGeom prst="roundRect">
            <a:avLst>
              <a:gd name="adj" fmla="val 157612"/>
            </a:avLst>
          </a:prstGeom>
          <a:solidFill>
            <a:srgbClr val="FFFFFF">
              <a:alpha val="86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5323731"/>
            <a:ext cx="8229600" cy="1654373"/>
          </a:xfrm>
          <a:prstGeom prst="roundRect">
            <a:avLst>
              <a:gd name="adj" fmla="val 121598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1E293B"/>
            </a:solidFill>
          </a:ln>
          <a:effectLst>
            <a:outerShdw sx="100000" sy="100000" kx="0" ky="0" algn="bl" rotWithShape="0" blurRad="285750" dist="114300" dir="5400000">
              <a:srgbClr val="1E293B">
                <a:alpha val="8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-1834455"/>
            <a:ext cx="8394192" cy="17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4"/>
              </a:lnSpc>
              <a:buNone/>
            </a:pPr>
            <a:r>
              <a:rPr lang="en-US" sz="936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Guardrails</a:t>
            </a:r>
            <a:endParaRPr lang="en-US" sz="936" dirty="0"/>
          </a:p>
        </p:txBody>
      </p:sp>
      <p:sp>
        <p:nvSpPr>
          <p:cNvPr id="10" name="Text 8"/>
          <p:cNvSpPr/>
          <p:nvPr/>
        </p:nvSpPr>
        <p:spPr>
          <a:xfrm>
            <a:off x="457200" y="-1656159"/>
            <a:ext cx="8394192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760"/>
              </a:lnSpc>
              <a:buNone/>
            </a:pPr>
            <a:r>
              <a:rPr lang="en-US" sz="3840" b="1" dirty="0">
                <a:solidFill>
                  <a:srgbClr val="1E293B"/>
                </a:solidFill>
                <a:latin typeface="Literata" pitchFamily="34" charset="0"/>
                <a:ea typeface="Literata" pitchFamily="34" charset="-122"/>
                <a:cs typeface="Literata" pitchFamily="34" charset="-120"/>
              </a:rPr>
              <a:t>What the spec should not do</a:t>
            </a:r>
            <a:endParaRPr lang="en-US" sz="3840" dirty="0"/>
          </a:p>
        </p:txBody>
      </p:sp>
      <p:sp>
        <p:nvSpPr>
          <p:cNvPr id="11" name="Text 9"/>
          <p:cNvSpPr/>
          <p:nvPr/>
        </p:nvSpPr>
        <p:spPr>
          <a:xfrm>
            <a:off x="695325" y="-457944"/>
            <a:ext cx="3623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 not put the “how” in the spec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5325" y="-76944"/>
            <a:ext cx="3552825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 not lock the team into algorithm choices, class structures, or file layouts too early.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Keep the spec at the contract level unless implementation constraints are truly mandatory.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5850" y="-457944"/>
            <a:ext cx="35528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 not mix requirements with brainstorming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95850" y="189756"/>
            <a:ext cx="355282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 spec should separate committed behavior from optional ideas.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If everything is tentative, the LLM has no real boundary to follow.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5325" y="1904256"/>
            <a:ext cx="3623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 not make it vague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95325" y="2285256"/>
            <a:ext cx="355282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Avoid language like “make it clean,” “fast,” or “smart” without measurable meaning.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Use concrete acceptance criteria, examples, and edge cases.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5850" y="1904256"/>
            <a:ext cx="3623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Do not bypass review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95850" y="2285256"/>
            <a:ext cx="355282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Unreviewed specs simply move ambiguity upstream.</a:t>
            </a:r>
            <a:endParaRPr lang="en-US" sz="1200" dirty="0"/>
          </a:p>
          <a:p>
            <a:pPr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The point is shared agreement before implementation accelerates.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7225" y="4018806"/>
            <a:ext cx="3672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Good pattern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7225" y="4323606"/>
            <a:ext cx="3600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“The system must support upload validation, return clear error states, and pass these acceptance cases.”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86325" y="4018806"/>
            <a:ext cx="36724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Bad pattern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86325" y="4323606"/>
            <a:ext cx="3600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“Use this exact architecture, these class names, this ORM pattern, and this refactor style,” unless those are true constraints.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" y="5523756"/>
            <a:ext cx="7956994" cy="18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76"/>
              </a:lnSpc>
              <a:buNone/>
            </a:pPr>
            <a:r>
              <a:rPr lang="en-US" sz="984" b="1" dirty="0">
                <a:solidFill>
                  <a:srgbClr val="C2410C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Speaker script</a:t>
            </a:r>
            <a:endParaRPr lang="en-US" sz="984" dirty="0"/>
          </a:p>
        </p:txBody>
      </p:sp>
      <p:sp>
        <p:nvSpPr>
          <p:cNvPr id="24" name="Text 22"/>
          <p:cNvSpPr/>
          <p:nvPr/>
        </p:nvSpPr>
        <p:spPr>
          <a:xfrm>
            <a:off x="685800" y="5787479"/>
            <a:ext cx="78009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“A common failure mode is writing implementation instructions instead of writing a contract. The spec should define required outcomes and constraints, not prematurely prescribe every internal decision. If the spec dictates the entire solution, the team loses flexibility and the LLM becomes a transcription engine instead of a useful implementation partner.”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2026-06-30T08:17:17Z</dcterms:created>
  <dcterms:modified xsi:type="dcterms:W3CDTF">2026-06-30T08:17:17Z</dcterms:modified>
</cp:coreProperties>
</file>